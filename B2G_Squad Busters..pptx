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handoutMasterIdLst>
    <p:handoutMasterId r:id="rId23"/>
  </p:handoutMasterIdLst>
  <p:sldIdLst>
    <p:sldId id="406" r:id="rId5"/>
    <p:sldId id="415" r:id="rId6"/>
    <p:sldId id="418" r:id="rId7"/>
    <p:sldId id="416" r:id="rId8"/>
    <p:sldId id="421" r:id="rId9"/>
    <p:sldId id="423" r:id="rId10"/>
    <p:sldId id="420" r:id="rId11"/>
    <p:sldId id="417" r:id="rId12"/>
    <p:sldId id="422" r:id="rId13"/>
    <p:sldId id="419" r:id="rId14"/>
    <p:sldId id="408" r:id="rId15"/>
    <p:sldId id="411" r:id="rId16"/>
    <p:sldId id="412" r:id="rId17"/>
    <p:sldId id="409" r:id="rId18"/>
    <p:sldId id="410" r:id="rId19"/>
    <p:sldId id="413" r:id="rId20"/>
    <p:sldId id="424" r:id="rId2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CBCAB04-445C-2E8D-A65C-9E876A4789B9}" name="Park  Chan Hyung" initials="PCH" userId="S::chpark@ethz.ch::49aa19e1-0eb9-4ecf-b4e4-10f110efab5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305F"/>
    <a:srgbClr val="F27E3A"/>
    <a:srgbClr val="122F5F"/>
    <a:srgbClr val="008F00"/>
    <a:srgbClr val="FFA572"/>
    <a:srgbClr val="FF853F"/>
    <a:srgbClr val="1F407A"/>
    <a:srgbClr val="FF8944"/>
    <a:srgbClr val="F89E70"/>
    <a:srgbClr val="DB71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773" autoAdjust="0"/>
    <p:restoredTop sz="97872"/>
  </p:normalViewPr>
  <p:slideViewPr>
    <p:cSldViewPr snapToGrid="0" showGuides="1">
      <p:cViewPr varScale="1">
        <p:scale>
          <a:sx n="82" d="100"/>
          <a:sy n="82" d="100"/>
        </p:scale>
        <p:origin x="1142" y="72"/>
      </p:cViewPr>
      <p:guideLst>
        <p:guide orient="horz" pos="2160"/>
        <p:guide pos="3840"/>
      </p:guideLst>
    </p:cSldViewPr>
  </p:slideViewPr>
  <p:notesTextViewPr>
    <p:cViewPr>
      <p:scale>
        <a:sx n="1" d="1"/>
        <a:sy n="1" d="1"/>
      </p:scale>
      <p:origin x="0" y="0"/>
    </p:cViewPr>
  </p:notesTextViewPr>
  <p:notesViewPr>
    <p:cSldViewPr snapToGrid="0" showGuides="1">
      <p:cViewPr varScale="1">
        <p:scale>
          <a:sx n="171" d="100"/>
          <a:sy n="171" d="100"/>
        </p:scale>
        <p:origin x="2024"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YASURYA R" userId="9b34861d5457904a" providerId="LiveId" clId="{E56BC7D2-4986-4BFA-B841-0F56E6673B61}"/>
    <pc:docChg chg="modSld">
      <pc:chgData name="JAYASURYA R" userId="9b34861d5457904a" providerId="LiveId" clId="{E56BC7D2-4986-4BFA-B841-0F56E6673B61}" dt="2026-02-19T08:53:22.686" v="2" actId="13822"/>
      <pc:docMkLst>
        <pc:docMk/>
      </pc:docMkLst>
      <pc:sldChg chg="modSp mod">
        <pc:chgData name="JAYASURYA R" userId="9b34861d5457904a" providerId="LiveId" clId="{E56BC7D2-4986-4BFA-B841-0F56E6673B61}" dt="2026-02-19T08:53:22.686" v="2" actId="13822"/>
        <pc:sldMkLst>
          <pc:docMk/>
          <pc:sldMk cId="214388273" sldId="417"/>
        </pc:sldMkLst>
        <pc:spChg chg="mod">
          <ac:chgData name="JAYASURYA R" userId="9b34861d5457904a" providerId="LiveId" clId="{E56BC7D2-4986-4BFA-B841-0F56E6673B61}" dt="2026-02-19T08:52:53.641" v="0" actId="13822"/>
          <ac:spMkLst>
            <pc:docMk/>
            <pc:sldMk cId="214388273" sldId="417"/>
            <ac:spMk id="6" creationId="{187DDEA9-3001-2CD7-D6AB-2F63EFBA2BF8}"/>
          </ac:spMkLst>
        </pc:spChg>
        <pc:spChg chg="mod">
          <ac:chgData name="JAYASURYA R" userId="9b34861d5457904a" providerId="LiveId" clId="{E56BC7D2-4986-4BFA-B841-0F56E6673B61}" dt="2026-02-19T08:53:16.366" v="1" actId="13822"/>
          <ac:spMkLst>
            <pc:docMk/>
            <pc:sldMk cId="214388273" sldId="417"/>
            <ac:spMk id="12" creationId="{73620501-9344-2220-EA16-08F69F2E8D15}"/>
          </ac:spMkLst>
        </pc:spChg>
        <pc:spChg chg="mod">
          <ac:chgData name="JAYASURYA R" userId="9b34861d5457904a" providerId="LiveId" clId="{E56BC7D2-4986-4BFA-B841-0F56E6673B61}" dt="2026-02-19T08:53:22.686" v="2" actId="13822"/>
          <ac:spMkLst>
            <pc:docMk/>
            <pc:sldMk cId="214388273" sldId="417"/>
            <ac:spMk id="16" creationId="{B01DA935-6D4D-83EF-69F9-DF3C3EC2348E}"/>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E1675B0-EFCC-483A-ADFA-EE144548C648}" type="doc">
      <dgm:prSet loTypeId="urn:microsoft.com/office/officeart/2005/8/layout/matrix3" loCatId="matrix" qsTypeId="urn:microsoft.com/office/officeart/2005/8/quickstyle/simple1" qsCatId="simple" csTypeId="urn:microsoft.com/office/officeart/2005/8/colors/accent1_2" csCatId="accent1" phldr="1"/>
      <dgm:spPr/>
      <dgm:t>
        <a:bodyPr/>
        <a:lstStyle/>
        <a:p>
          <a:endParaRPr lang="en-US"/>
        </a:p>
      </dgm:t>
    </dgm:pt>
    <dgm:pt modelId="{1BC017A8-1C7C-474F-BD80-6EB1427C9171}">
      <dgm:prSet phldrT="[Text]" custT="1"/>
      <dgm:spPr>
        <a:solidFill>
          <a:schemeClr val="tx1">
            <a:lumMod val="65000"/>
            <a:lumOff val="35000"/>
          </a:schemeClr>
        </a:solidFill>
      </dgm:spPr>
      <dgm:t>
        <a:bodyPr/>
        <a:lstStyle/>
        <a:p>
          <a:pPr algn="l">
            <a:lnSpc>
              <a:spcPct val="150000"/>
            </a:lnSpc>
            <a:buNone/>
          </a:pPr>
          <a:r>
            <a:rPr lang="en-US" sz="1100" b="1" dirty="0">
              <a:solidFill>
                <a:srgbClr val="FF0000"/>
              </a:solidFill>
            </a:rPr>
            <a:t>Alternatives in the Market</a:t>
          </a:r>
        </a:p>
        <a:p>
          <a:pPr algn="l">
            <a:lnSpc>
              <a:spcPct val="150000"/>
            </a:lnSpc>
            <a:buNone/>
          </a:pPr>
          <a:r>
            <a:rPr lang="en-US" sz="1100" b="1" dirty="0">
              <a:solidFill>
                <a:srgbClr val="FF0000"/>
              </a:solidFill>
            </a:rPr>
            <a:t> Traditional Evacuation Systems:</a:t>
          </a:r>
          <a:r>
            <a:rPr lang="en-US" sz="1100" dirty="0">
              <a:solidFill>
                <a:srgbClr val="FF0000"/>
              </a:solidFill>
            </a:rPr>
            <a:t> Manual coordination, static shelter lists, reactive decision-making.</a:t>
          </a:r>
        </a:p>
        <a:p>
          <a:pPr algn="l">
            <a:lnSpc>
              <a:spcPct val="150000"/>
            </a:lnSpc>
            <a:buNone/>
          </a:pPr>
          <a:r>
            <a:rPr lang="en-US" sz="1100" b="1" dirty="0">
              <a:solidFill>
                <a:srgbClr val="FF0000"/>
              </a:solidFill>
            </a:rPr>
            <a:t>Early Warning Apps:</a:t>
          </a:r>
          <a:r>
            <a:rPr lang="en-US" sz="1100" dirty="0">
              <a:solidFill>
                <a:srgbClr val="FF0000"/>
              </a:solidFill>
            </a:rPr>
            <a:t> Provide hazard alerts but no shelter allocation or optimization.</a:t>
          </a:r>
        </a:p>
        <a:p>
          <a:pPr algn="l">
            <a:lnSpc>
              <a:spcPct val="150000"/>
            </a:lnSpc>
            <a:buNone/>
          </a:pPr>
          <a:r>
            <a:rPr lang="en-US" sz="1100" b="1" dirty="0">
              <a:solidFill>
                <a:srgbClr val="FF0000"/>
              </a:solidFill>
            </a:rPr>
            <a:t>Basic Shelter Dashboards (NGOs):</a:t>
          </a:r>
          <a:r>
            <a:rPr lang="en-US" sz="1100" dirty="0">
              <a:solidFill>
                <a:srgbClr val="FF0000"/>
              </a:solidFill>
            </a:rPr>
            <a:t> Track capacity but lack AI forecasting and district-wide integration</a:t>
          </a:r>
          <a:r>
            <a:rPr lang="en-US" sz="1100" dirty="0"/>
            <a:t>.</a:t>
          </a:r>
        </a:p>
      </dgm:t>
    </dgm:pt>
    <dgm:pt modelId="{20AE8BCF-A227-402D-B71B-0C38AD3BA863}" type="parTrans" cxnId="{31A2580F-ACD0-486D-AB53-930CD50697EC}">
      <dgm:prSet/>
      <dgm:spPr/>
      <dgm:t>
        <a:bodyPr/>
        <a:lstStyle/>
        <a:p>
          <a:endParaRPr lang="en-US"/>
        </a:p>
      </dgm:t>
    </dgm:pt>
    <dgm:pt modelId="{5DB204FB-4A74-453A-B6F6-05EBE80CF90D}" type="sibTrans" cxnId="{31A2580F-ACD0-486D-AB53-930CD50697EC}">
      <dgm:prSet/>
      <dgm:spPr/>
      <dgm:t>
        <a:bodyPr/>
        <a:lstStyle/>
        <a:p>
          <a:endParaRPr lang="en-US"/>
        </a:p>
      </dgm:t>
    </dgm:pt>
    <dgm:pt modelId="{F272D364-3955-48BC-8EC2-9E47D1343E9D}">
      <dgm:prSet phldrT="[Text]" custT="1"/>
      <dgm:spPr>
        <a:solidFill>
          <a:schemeClr val="tx1">
            <a:lumMod val="65000"/>
            <a:lumOff val="35000"/>
          </a:schemeClr>
        </a:solidFill>
      </dgm:spPr>
      <dgm:t>
        <a:bodyPr/>
        <a:lstStyle/>
        <a:p>
          <a:pPr algn="l">
            <a:lnSpc>
              <a:spcPct val="150000"/>
            </a:lnSpc>
            <a:buFont typeface="Arial" panose="020B0604020202020204" pitchFamily="34" charset="0"/>
            <a:buChar char="•"/>
          </a:pPr>
          <a:r>
            <a:rPr lang="en-US" sz="1100" b="1" dirty="0">
              <a:solidFill>
                <a:srgbClr val="FF0000"/>
              </a:solidFill>
            </a:rPr>
            <a:t>Our Key Advantage</a:t>
          </a:r>
        </a:p>
        <a:p>
          <a:pPr algn="l">
            <a:lnSpc>
              <a:spcPct val="150000"/>
            </a:lnSpc>
            <a:buFont typeface="Arial" panose="020B0604020202020204" pitchFamily="34" charset="0"/>
            <a:buChar char="•"/>
          </a:pPr>
          <a:r>
            <a:rPr lang="en-US" sz="1100" dirty="0">
              <a:solidFill>
                <a:srgbClr val="FF0000"/>
              </a:solidFill>
            </a:rPr>
            <a:t>Integrated platform: </a:t>
          </a:r>
        </a:p>
        <a:p>
          <a:pPr algn="l">
            <a:lnSpc>
              <a:spcPct val="150000"/>
            </a:lnSpc>
            <a:buFont typeface="Arial" panose="020B0604020202020204" pitchFamily="34" charset="0"/>
            <a:buChar char="•"/>
          </a:pPr>
          <a:r>
            <a:rPr lang="en-US" sz="1100" dirty="0">
              <a:solidFill>
                <a:srgbClr val="FF0000"/>
              </a:solidFill>
            </a:rPr>
            <a:t>Hazard detection + real-time shelter tracking + AI allocation.</a:t>
          </a:r>
        </a:p>
        <a:p>
          <a:pPr algn="l">
            <a:lnSpc>
              <a:spcPct val="150000"/>
            </a:lnSpc>
            <a:buFont typeface="Arial" panose="020B0604020202020204" pitchFamily="34" charset="0"/>
            <a:buChar char="•"/>
          </a:pPr>
          <a:r>
            <a:rPr lang="en-US" sz="1100" dirty="0">
              <a:solidFill>
                <a:srgbClr val="FF0000"/>
              </a:solidFill>
            </a:rPr>
            <a:t>Predictive overcrowding forecast before shelters reach critical levels.</a:t>
          </a:r>
        </a:p>
        <a:p>
          <a:pPr algn="l">
            <a:lnSpc>
              <a:spcPct val="150000"/>
            </a:lnSpc>
            <a:buFont typeface="Arial" panose="020B0604020202020204" pitchFamily="34" charset="0"/>
            <a:buChar char="•"/>
          </a:pPr>
          <a:r>
            <a:rPr lang="en-US" sz="1100" dirty="0">
              <a:solidFill>
                <a:srgbClr val="FF0000"/>
              </a:solidFill>
            </a:rPr>
            <a:t>Vulnerability-prioritized routing with offline/SMS backup support.</a:t>
          </a:r>
        </a:p>
        <a:p>
          <a:pPr algn="l">
            <a:lnSpc>
              <a:spcPct val="90000"/>
            </a:lnSpc>
            <a:buFont typeface="Arial" panose="020B0604020202020204" pitchFamily="34" charset="0"/>
            <a:buChar char="•"/>
          </a:pPr>
          <a:endParaRPr lang="en-US" sz="800" dirty="0"/>
        </a:p>
      </dgm:t>
    </dgm:pt>
    <dgm:pt modelId="{A630A2C5-6067-4D59-80CA-AB39E28ECABB}" type="parTrans" cxnId="{54D8EDA4-168D-42E8-B0DB-1B472449E47B}">
      <dgm:prSet/>
      <dgm:spPr/>
      <dgm:t>
        <a:bodyPr/>
        <a:lstStyle/>
        <a:p>
          <a:endParaRPr lang="en-US"/>
        </a:p>
      </dgm:t>
    </dgm:pt>
    <dgm:pt modelId="{C31B2107-1F2B-499F-BDF6-EBA2E6F48056}" type="sibTrans" cxnId="{54D8EDA4-168D-42E8-B0DB-1B472449E47B}">
      <dgm:prSet/>
      <dgm:spPr/>
      <dgm:t>
        <a:bodyPr/>
        <a:lstStyle/>
        <a:p>
          <a:endParaRPr lang="en-US"/>
        </a:p>
      </dgm:t>
    </dgm:pt>
    <dgm:pt modelId="{36F138E7-B577-4E47-AF81-E8CE607E9B11}">
      <dgm:prSet phldrT="[Text]" custT="1"/>
      <dgm:spPr>
        <a:solidFill>
          <a:schemeClr val="tx1">
            <a:lumMod val="65000"/>
            <a:lumOff val="35000"/>
          </a:schemeClr>
        </a:solidFill>
      </dgm:spPr>
      <dgm:t>
        <a:bodyPr/>
        <a:lstStyle/>
        <a:p>
          <a:pPr algn="l">
            <a:lnSpc>
              <a:spcPct val="150000"/>
            </a:lnSpc>
            <a:buNone/>
          </a:pPr>
          <a:r>
            <a:rPr lang="en-US" sz="1100" b="1" dirty="0">
              <a:solidFill>
                <a:srgbClr val="FF0000"/>
              </a:solidFill>
            </a:rPr>
            <a:t>Revenue &amp; Sustainability Model </a:t>
          </a:r>
        </a:p>
        <a:p>
          <a:pPr algn="l">
            <a:lnSpc>
              <a:spcPct val="150000"/>
            </a:lnSpc>
            <a:buNone/>
          </a:pPr>
          <a:r>
            <a:rPr lang="en-US" sz="1100" dirty="0">
              <a:solidFill>
                <a:srgbClr val="FF0000"/>
              </a:solidFill>
            </a:rPr>
            <a:t>SaaS-based licensing for government bodies.</a:t>
          </a:r>
        </a:p>
        <a:p>
          <a:pPr algn="l">
            <a:lnSpc>
              <a:spcPct val="150000"/>
            </a:lnSpc>
            <a:buNone/>
          </a:pPr>
          <a:r>
            <a:rPr lang="en-US" sz="1100" dirty="0">
              <a:solidFill>
                <a:srgbClr val="FF0000"/>
              </a:solidFill>
            </a:rPr>
            <a:t>Customization &amp; integration contracts at district/state level.</a:t>
          </a:r>
        </a:p>
        <a:p>
          <a:pPr algn="l">
            <a:lnSpc>
              <a:spcPct val="150000"/>
            </a:lnSpc>
            <a:buNone/>
          </a:pPr>
          <a:r>
            <a:rPr lang="en-US" sz="1100" dirty="0">
              <a:solidFill>
                <a:srgbClr val="FF0000"/>
              </a:solidFill>
            </a:rPr>
            <a:t>Long-term maintenance &amp; analytics subscription model.</a:t>
          </a:r>
        </a:p>
      </dgm:t>
    </dgm:pt>
    <dgm:pt modelId="{3798B7FC-36E1-4E3F-8A76-CDBEB9C76822}" type="parTrans" cxnId="{3D0EB21F-B5BB-4352-BCB3-DCED9D3D3988}">
      <dgm:prSet/>
      <dgm:spPr/>
      <dgm:t>
        <a:bodyPr/>
        <a:lstStyle/>
        <a:p>
          <a:endParaRPr lang="en-US"/>
        </a:p>
      </dgm:t>
    </dgm:pt>
    <dgm:pt modelId="{9DCBBF96-2967-4435-9C8E-79ECD7A64BFB}" type="sibTrans" cxnId="{3D0EB21F-B5BB-4352-BCB3-DCED9D3D3988}">
      <dgm:prSet/>
      <dgm:spPr/>
      <dgm:t>
        <a:bodyPr/>
        <a:lstStyle/>
        <a:p>
          <a:endParaRPr lang="en-US"/>
        </a:p>
      </dgm:t>
    </dgm:pt>
    <dgm:pt modelId="{98061648-0418-4ED9-99BE-149816AF8DDB}">
      <dgm:prSet phldrT="[Text]" custT="1"/>
      <dgm:spPr>
        <a:solidFill>
          <a:schemeClr val="tx1">
            <a:lumMod val="65000"/>
            <a:lumOff val="35000"/>
          </a:schemeClr>
        </a:solidFill>
      </dgm:spPr>
      <dgm:t>
        <a:bodyPr/>
        <a:lstStyle/>
        <a:p>
          <a:pPr algn="l">
            <a:lnSpc>
              <a:spcPct val="150000"/>
            </a:lnSpc>
            <a:buFont typeface="Arial" panose="020B0604020202020204" pitchFamily="34" charset="0"/>
            <a:buChar char="•"/>
          </a:pPr>
          <a:r>
            <a:rPr lang="en-US" sz="1100" b="1" dirty="0">
              <a:solidFill>
                <a:srgbClr val="FF0000"/>
              </a:solidFill>
            </a:rPr>
            <a:t>Next Steps to Outperform</a:t>
          </a:r>
        </a:p>
        <a:p>
          <a:pPr algn="l">
            <a:lnSpc>
              <a:spcPct val="150000"/>
            </a:lnSpc>
            <a:buFont typeface="Arial" panose="020B0604020202020204" pitchFamily="34" charset="0"/>
            <a:buChar char="•"/>
          </a:pPr>
          <a:r>
            <a:rPr lang="en-US" sz="1100" dirty="0">
              <a:solidFill>
                <a:srgbClr val="FF0000"/>
              </a:solidFill>
            </a:rPr>
            <a:t>Pilot deployment with government disaster authority.</a:t>
          </a:r>
        </a:p>
        <a:p>
          <a:pPr algn="l">
            <a:lnSpc>
              <a:spcPct val="150000"/>
            </a:lnSpc>
            <a:buFont typeface="Arial" panose="020B0604020202020204" pitchFamily="34" charset="0"/>
            <a:buChar char="•"/>
          </a:pPr>
          <a:r>
            <a:rPr lang="en-US" sz="1100" dirty="0">
              <a:solidFill>
                <a:srgbClr val="FF0000"/>
              </a:solidFill>
            </a:rPr>
            <a:t>Integrate IoT-based occupancy sensors for accurate live data.</a:t>
          </a:r>
        </a:p>
        <a:p>
          <a:pPr algn="l">
            <a:lnSpc>
              <a:spcPct val="150000"/>
            </a:lnSpc>
            <a:buFont typeface="Arial" panose="020B0604020202020204" pitchFamily="34" charset="0"/>
            <a:buChar char="•"/>
          </a:pPr>
          <a:r>
            <a:rPr lang="en-US" sz="1100" dirty="0">
              <a:solidFill>
                <a:srgbClr val="FF0000"/>
              </a:solidFill>
            </a:rPr>
            <a:t>Publish validation results &amp; scale through state-level partnerships.</a:t>
          </a:r>
        </a:p>
      </dgm:t>
    </dgm:pt>
    <dgm:pt modelId="{A866DDFB-3688-4EF2-995E-A914A58A3588}" type="parTrans" cxnId="{6BD22FAF-05AD-4C16-BB31-89B84F77352A}">
      <dgm:prSet/>
      <dgm:spPr/>
      <dgm:t>
        <a:bodyPr/>
        <a:lstStyle/>
        <a:p>
          <a:endParaRPr lang="en-US"/>
        </a:p>
      </dgm:t>
    </dgm:pt>
    <dgm:pt modelId="{A4C5B3BF-C44D-456F-AE86-FBBFF8355558}" type="sibTrans" cxnId="{6BD22FAF-05AD-4C16-BB31-89B84F77352A}">
      <dgm:prSet/>
      <dgm:spPr/>
      <dgm:t>
        <a:bodyPr/>
        <a:lstStyle/>
        <a:p>
          <a:endParaRPr lang="en-US"/>
        </a:p>
      </dgm:t>
    </dgm:pt>
    <dgm:pt modelId="{33E056F6-6909-4AB6-8203-7D6C406723D1}" type="pres">
      <dgm:prSet presAssocID="{CE1675B0-EFCC-483A-ADFA-EE144548C648}" presName="matrix" presStyleCnt="0">
        <dgm:presLayoutVars>
          <dgm:chMax val="1"/>
          <dgm:dir/>
          <dgm:resizeHandles val="exact"/>
        </dgm:presLayoutVars>
      </dgm:prSet>
      <dgm:spPr/>
    </dgm:pt>
    <dgm:pt modelId="{145DB77F-BF7E-4F62-8D20-6443D7D4001B}" type="pres">
      <dgm:prSet presAssocID="{CE1675B0-EFCC-483A-ADFA-EE144548C648}" presName="diamond" presStyleLbl="bgShp" presStyleIdx="0" presStyleCnt="1" custLinFactNeighborX="-4299" custLinFactNeighborY="1181"/>
      <dgm:spPr/>
    </dgm:pt>
    <dgm:pt modelId="{E88AB300-55BE-426E-B1BC-6F39DA792C5F}" type="pres">
      <dgm:prSet presAssocID="{CE1675B0-EFCC-483A-ADFA-EE144548C648}" presName="quad1" presStyleLbl="node1" presStyleIdx="0" presStyleCnt="4" custScaleX="131559" custScaleY="129144" custLinFactNeighborX="-49282" custLinFactNeighborY="-10726">
        <dgm:presLayoutVars>
          <dgm:chMax val="0"/>
          <dgm:chPref val="0"/>
          <dgm:bulletEnabled val="1"/>
        </dgm:presLayoutVars>
      </dgm:prSet>
      <dgm:spPr/>
    </dgm:pt>
    <dgm:pt modelId="{AD7D8CEB-6EFD-47CD-948A-9641510E2CB8}" type="pres">
      <dgm:prSet presAssocID="{CE1675B0-EFCC-483A-ADFA-EE144548C648}" presName="quad2" presStyleLbl="node1" presStyleIdx="1" presStyleCnt="4" custScaleX="139199" custScaleY="127384" custLinFactNeighborX="20875" custLinFactNeighborY="-9846">
        <dgm:presLayoutVars>
          <dgm:chMax val="0"/>
          <dgm:chPref val="0"/>
          <dgm:bulletEnabled val="1"/>
        </dgm:presLayoutVars>
      </dgm:prSet>
      <dgm:spPr/>
    </dgm:pt>
    <dgm:pt modelId="{7DD21AF4-8990-4442-9E8C-99CBF34FB0AC}" type="pres">
      <dgm:prSet presAssocID="{CE1675B0-EFCC-483A-ADFA-EE144548C648}" presName="quad3" presStyleLbl="node1" presStyleIdx="2" presStyleCnt="4" custScaleX="136751" custScaleY="110843" custLinFactNeighborX="-41256" custLinFactNeighborY="20955">
        <dgm:presLayoutVars>
          <dgm:chMax val="0"/>
          <dgm:chPref val="0"/>
          <dgm:bulletEnabled val="1"/>
        </dgm:presLayoutVars>
      </dgm:prSet>
      <dgm:spPr/>
    </dgm:pt>
    <dgm:pt modelId="{517BF87A-6F8F-4CAB-98BF-8A185B1B263C}" type="pres">
      <dgm:prSet presAssocID="{CE1675B0-EFCC-483A-ADFA-EE144548C648}" presName="quad4" presStyleLbl="node1" presStyleIdx="3" presStyleCnt="4" custScaleX="141791" custScaleY="107949" custLinFactNeighborX="27993" custLinFactNeighborY="17294">
        <dgm:presLayoutVars>
          <dgm:chMax val="0"/>
          <dgm:chPref val="0"/>
          <dgm:bulletEnabled val="1"/>
        </dgm:presLayoutVars>
      </dgm:prSet>
      <dgm:spPr/>
    </dgm:pt>
  </dgm:ptLst>
  <dgm:cxnLst>
    <dgm:cxn modelId="{ECC16202-0C69-40DE-BDE9-CF4FC13754A9}" type="presOf" srcId="{CE1675B0-EFCC-483A-ADFA-EE144548C648}" destId="{33E056F6-6909-4AB6-8203-7D6C406723D1}" srcOrd="0" destOrd="0" presId="urn:microsoft.com/office/officeart/2005/8/layout/matrix3"/>
    <dgm:cxn modelId="{31A2580F-ACD0-486D-AB53-930CD50697EC}" srcId="{CE1675B0-EFCC-483A-ADFA-EE144548C648}" destId="{1BC017A8-1C7C-474F-BD80-6EB1427C9171}" srcOrd="0" destOrd="0" parTransId="{20AE8BCF-A227-402D-B71B-0C38AD3BA863}" sibTransId="{5DB204FB-4A74-453A-B6F6-05EBE80CF90D}"/>
    <dgm:cxn modelId="{2FCA0B1F-5B91-47C2-8323-90ACCAA81C95}" type="presOf" srcId="{36F138E7-B577-4E47-AF81-E8CE607E9B11}" destId="{517BF87A-6F8F-4CAB-98BF-8A185B1B263C}" srcOrd="0" destOrd="0" presId="urn:microsoft.com/office/officeart/2005/8/layout/matrix3"/>
    <dgm:cxn modelId="{3D0EB21F-B5BB-4352-BCB3-DCED9D3D3988}" srcId="{CE1675B0-EFCC-483A-ADFA-EE144548C648}" destId="{36F138E7-B577-4E47-AF81-E8CE607E9B11}" srcOrd="3" destOrd="0" parTransId="{3798B7FC-36E1-4E3F-8A76-CDBEB9C76822}" sibTransId="{9DCBBF96-2967-4435-9C8E-79ECD7A64BFB}"/>
    <dgm:cxn modelId="{A83B3E34-6112-47DD-9CEA-74E63EEB2CCB}" type="presOf" srcId="{98061648-0418-4ED9-99BE-149816AF8DDB}" destId="{7DD21AF4-8990-4442-9E8C-99CBF34FB0AC}" srcOrd="0" destOrd="0" presId="urn:microsoft.com/office/officeart/2005/8/layout/matrix3"/>
    <dgm:cxn modelId="{0815A77D-B34F-451E-B188-8E79A269E857}" type="presOf" srcId="{F272D364-3955-48BC-8EC2-9E47D1343E9D}" destId="{AD7D8CEB-6EFD-47CD-948A-9641510E2CB8}" srcOrd="0" destOrd="0" presId="urn:microsoft.com/office/officeart/2005/8/layout/matrix3"/>
    <dgm:cxn modelId="{54D8EDA4-168D-42E8-B0DB-1B472449E47B}" srcId="{CE1675B0-EFCC-483A-ADFA-EE144548C648}" destId="{F272D364-3955-48BC-8EC2-9E47D1343E9D}" srcOrd="1" destOrd="0" parTransId="{A630A2C5-6067-4D59-80CA-AB39E28ECABB}" sibTransId="{C31B2107-1F2B-499F-BDF6-EBA2E6F48056}"/>
    <dgm:cxn modelId="{6BD22FAF-05AD-4C16-BB31-89B84F77352A}" srcId="{CE1675B0-EFCC-483A-ADFA-EE144548C648}" destId="{98061648-0418-4ED9-99BE-149816AF8DDB}" srcOrd="2" destOrd="0" parTransId="{A866DDFB-3688-4EF2-995E-A914A58A3588}" sibTransId="{A4C5B3BF-C44D-456F-AE86-FBBFF8355558}"/>
    <dgm:cxn modelId="{F98F44D5-8E88-4EB1-9A9D-835F9AD2D299}" type="presOf" srcId="{1BC017A8-1C7C-474F-BD80-6EB1427C9171}" destId="{E88AB300-55BE-426E-B1BC-6F39DA792C5F}" srcOrd="0" destOrd="0" presId="urn:microsoft.com/office/officeart/2005/8/layout/matrix3"/>
    <dgm:cxn modelId="{3B74F49B-8187-482D-A6B1-9984ECEA0FA9}" type="presParOf" srcId="{33E056F6-6909-4AB6-8203-7D6C406723D1}" destId="{145DB77F-BF7E-4F62-8D20-6443D7D4001B}" srcOrd="0" destOrd="0" presId="urn:microsoft.com/office/officeart/2005/8/layout/matrix3"/>
    <dgm:cxn modelId="{3982429E-361F-4006-B655-BFA30B110B4F}" type="presParOf" srcId="{33E056F6-6909-4AB6-8203-7D6C406723D1}" destId="{E88AB300-55BE-426E-B1BC-6F39DA792C5F}" srcOrd="1" destOrd="0" presId="urn:microsoft.com/office/officeart/2005/8/layout/matrix3"/>
    <dgm:cxn modelId="{263AFEE0-DC2F-475F-978A-8793E7C8208A}" type="presParOf" srcId="{33E056F6-6909-4AB6-8203-7D6C406723D1}" destId="{AD7D8CEB-6EFD-47CD-948A-9641510E2CB8}" srcOrd="2" destOrd="0" presId="urn:microsoft.com/office/officeart/2005/8/layout/matrix3"/>
    <dgm:cxn modelId="{71579969-DAA0-40C8-B1FF-91010F00633E}" type="presParOf" srcId="{33E056F6-6909-4AB6-8203-7D6C406723D1}" destId="{7DD21AF4-8990-4442-9E8C-99CBF34FB0AC}" srcOrd="3" destOrd="0" presId="urn:microsoft.com/office/officeart/2005/8/layout/matrix3"/>
    <dgm:cxn modelId="{AEAF4A16-C626-45E7-90B2-77F9B0A687E8}" type="presParOf" srcId="{33E056F6-6909-4AB6-8203-7D6C406723D1}" destId="{517BF87A-6F8F-4CAB-98BF-8A185B1B263C}"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5DB77F-BF7E-4F62-8D20-6443D7D4001B}">
      <dsp:nvSpPr>
        <dsp:cNvPr id="0" name=""/>
        <dsp:cNvSpPr/>
      </dsp:nvSpPr>
      <dsp:spPr>
        <a:xfrm>
          <a:off x="1121718" y="0"/>
          <a:ext cx="5418667" cy="5418667"/>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8AB300-55BE-426E-B1BC-6F39DA792C5F}">
      <dsp:nvSpPr>
        <dsp:cNvPr id="0" name=""/>
        <dsp:cNvSpPr/>
      </dsp:nvSpPr>
      <dsp:spPr>
        <a:xfrm>
          <a:off x="494508" y="0"/>
          <a:ext cx="2780210" cy="2729174"/>
        </a:xfrm>
        <a:prstGeom prst="round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150000"/>
            </a:lnSpc>
            <a:spcBef>
              <a:spcPct val="0"/>
            </a:spcBef>
            <a:spcAft>
              <a:spcPct val="35000"/>
            </a:spcAft>
            <a:buNone/>
          </a:pPr>
          <a:r>
            <a:rPr lang="en-US" sz="1100" b="1" kern="1200" dirty="0">
              <a:solidFill>
                <a:srgbClr val="FF0000"/>
              </a:solidFill>
            </a:rPr>
            <a:t>Alternatives in the Market</a:t>
          </a:r>
        </a:p>
        <a:p>
          <a:pPr marL="0" lvl="0" indent="0" algn="l" defTabSz="488950">
            <a:lnSpc>
              <a:spcPct val="150000"/>
            </a:lnSpc>
            <a:spcBef>
              <a:spcPct val="0"/>
            </a:spcBef>
            <a:spcAft>
              <a:spcPct val="35000"/>
            </a:spcAft>
            <a:buNone/>
          </a:pPr>
          <a:r>
            <a:rPr lang="en-US" sz="1100" b="1" kern="1200" dirty="0">
              <a:solidFill>
                <a:srgbClr val="FF0000"/>
              </a:solidFill>
            </a:rPr>
            <a:t> Traditional Evacuation Systems:</a:t>
          </a:r>
          <a:r>
            <a:rPr lang="en-US" sz="1100" kern="1200" dirty="0">
              <a:solidFill>
                <a:srgbClr val="FF0000"/>
              </a:solidFill>
            </a:rPr>
            <a:t> Manual coordination, static shelter lists, reactive decision-making.</a:t>
          </a:r>
        </a:p>
        <a:p>
          <a:pPr marL="0" lvl="0" indent="0" algn="l" defTabSz="488950">
            <a:lnSpc>
              <a:spcPct val="150000"/>
            </a:lnSpc>
            <a:spcBef>
              <a:spcPct val="0"/>
            </a:spcBef>
            <a:spcAft>
              <a:spcPct val="35000"/>
            </a:spcAft>
            <a:buNone/>
          </a:pPr>
          <a:r>
            <a:rPr lang="en-US" sz="1100" b="1" kern="1200" dirty="0">
              <a:solidFill>
                <a:srgbClr val="FF0000"/>
              </a:solidFill>
            </a:rPr>
            <a:t>Early Warning Apps:</a:t>
          </a:r>
          <a:r>
            <a:rPr lang="en-US" sz="1100" kern="1200" dirty="0">
              <a:solidFill>
                <a:srgbClr val="FF0000"/>
              </a:solidFill>
            </a:rPr>
            <a:t> Provide hazard alerts but no shelter allocation or optimization.</a:t>
          </a:r>
        </a:p>
        <a:p>
          <a:pPr marL="0" lvl="0" indent="0" algn="l" defTabSz="488950">
            <a:lnSpc>
              <a:spcPct val="150000"/>
            </a:lnSpc>
            <a:spcBef>
              <a:spcPct val="0"/>
            </a:spcBef>
            <a:spcAft>
              <a:spcPct val="35000"/>
            </a:spcAft>
            <a:buNone/>
          </a:pPr>
          <a:r>
            <a:rPr lang="en-US" sz="1100" b="1" kern="1200" dirty="0">
              <a:solidFill>
                <a:srgbClr val="FF0000"/>
              </a:solidFill>
            </a:rPr>
            <a:t>Basic Shelter Dashboards (NGOs):</a:t>
          </a:r>
          <a:r>
            <a:rPr lang="en-US" sz="1100" kern="1200" dirty="0">
              <a:solidFill>
                <a:srgbClr val="FF0000"/>
              </a:solidFill>
            </a:rPr>
            <a:t> Track capacity but lack AI forecasting and district-wide integration</a:t>
          </a:r>
          <a:r>
            <a:rPr lang="en-US" sz="1100" kern="1200" dirty="0"/>
            <a:t>.</a:t>
          </a:r>
        </a:p>
      </dsp:txBody>
      <dsp:txXfrm>
        <a:off x="627735" y="133227"/>
        <a:ext cx="2513756" cy="2462720"/>
      </dsp:txXfrm>
    </dsp:sp>
    <dsp:sp modelId="{AD7D8CEB-6EFD-47CD-948A-9641510E2CB8}">
      <dsp:nvSpPr>
        <dsp:cNvPr id="0" name=""/>
        <dsp:cNvSpPr/>
      </dsp:nvSpPr>
      <dsp:spPr>
        <a:xfrm>
          <a:off x="4172234" y="17349"/>
          <a:ext cx="2941664" cy="2691980"/>
        </a:xfrm>
        <a:prstGeom prst="round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150000"/>
            </a:lnSpc>
            <a:spcBef>
              <a:spcPct val="0"/>
            </a:spcBef>
            <a:spcAft>
              <a:spcPct val="35000"/>
            </a:spcAft>
            <a:buFont typeface="Arial" panose="020B0604020202020204" pitchFamily="34" charset="0"/>
            <a:buNone/>
          </a:pPr>
          <a:r>
            <a:rPr lang="en-US" sz="1100" b="1" kern="1200" dirty="0">
              <a:solidFill>
                <a:srgbClr val="FF0000"/>
              </a:solidFill>
            </a:rPr>
            <a:t>Our Key Advantage</a:t>
          </a:r>
        </a:p>
        <a:p>
          <a:pPr marL="0" lvl="0" indent="0" algn="l" defTabSz="488950">
            <a:lnSpc>
              <a:spcPct val="150000"/>
            </a:lnSpc>
            <a:spcBef>
              <a:spcPct val="0"/>
            </a:spcBef>
            <a:spcAft>
              <a:spcPct val="35000"/>
            </a:spcAft>
            <a:buFont typeface="Arial" panose="020B0604020202020204" pitchFamily="34" charset="0"/>
            <a:buNone/>
          </a:pPr>
          <a:r>
            <a:rPr lang="en-US" sz="1100" kern="1200" dirty="0">
              <a:solidFill>
                <a:srgbClr val="FF0000"/>
              </a:solidFill>
            </a:rPr>
            <a:t>Integrated platform: </a:t>
          </a:r>
        </a:p>
        <a:p>
          <a:pPr marL="0" lvl="0" indent="0" algn="l" defTabSz="488950">
            <a:lnSpc>
              <a:spcPct val="150000"/>
            </a:lnSpc>
            <a:spcBef>
              <a:spcPct val="0"/>
            </a:spcBef>
            <a:spcAft>
              <a:spcPct val="35000"/>
            </a:spcAft>
            <a:buFont typeface="Arial" panose="020B0604020202020204" pitchFamily="34" charset="0"/>
            <a:buNone/>
          </a:pPr>
          <a:r>
            <a:rPr lang="en-US" sz="1100" kern="1200" dirty="0">
              <a:solidFill>
                <a:srgbClr val="FF0000"/>
              </a:solidFill>
            </a:rPr>
            <a:t>Hazard detection + real-time shelter tracking + AI allocation.</a:t>
          </a:r>
        </a:p>
        <a:p>
          <a:pPr marL="0" lvl="0" indent="0" algn="l" defTabSz="488950">
            <a:lnSpc>
              <a:spcPct val="150000"/>
            </a:lnSpc>
            <a:spcBef>
              <a:spcPct val="0"/>
            </a:spcBef>
            <a:spcAft>
              <a:spcPct val="35000"/>
            </a:spcAft>
            <a:buFont typeface="Arial" panose="020B0604020202020204" pitchFamily="34" charset="0"/>
            <a:buNone/>
          </a:pPr>
          <a:r>
            <a:rPr lang="en-US" sz="1100" kern="1200" dirty="0">
              <a:solidFill>
                <a:srgbClr val="FF0000"/>
              </a:solidFill>
            </a:rPr>
            <a:t>Predictive overcrowding forecast before shelters reach critical levels.</a:t>
          </a:r>
        </a:p>
        <a:p>
          <a:pPr marL="0" lvl="0" indent="0" algn="l" defTabSz="488950">
            <a:lnSpc>
              <a:spcPct val="150000"/>
            </a:lnSpc>
            <a:spcBef>
              <a:spcPct val="0"/>
            </a:spcBef>
            <a:spcAft>
              <a:spcPct val="35000"/>
            </a:spcAft>
            <a:buFont typeface="Arial" panose="020B0604020202020204" pitchFamily="34" charset="0"/>
            <a:buNone/>
          </a:pPr>
          <a:r>
            <a:rPr lang="en-US" sz="1100" kern="1200" dirty="0">
              <a:solidFill>
                <a:srgbClr val="FF0000"/>
              </a:solidFill>
            </a:rPr>
            <a:t>Vulnerability-prioritized routing with offline/SMS backup support.</a:t>
          </a:r>
        </a:p>
        <a:p>
          <a:pPr marL="0" lvl="0" indent="0" algn="l" defTabSz="488950">
            <a:lnSpc>
              <a:spcPct val="90000"/>
            </a:lnSpc>
            <a:spcBef>
              <a:spcPct val="0"/>
            </a:spcBef>
            <a:spcAft>
              <a:spcPct val="35000"/>
            </a:spcAft>
            <a:buFont typeface="Arial" panose="020B0604020202020204" pitchFamily="34" charset="0"/>
            <a:buNone/>
          </a:pPr>
          <a:endParaRPr lang="en-US" sz="800" kern="1200" dirty="0"/>
        </a:p>
      </dsp:txBody>
      <dsp:txXfrm>
        <a:off x="4303646" y="148761"/>
        <a:ext cx="2678840" cy="2429156"/>
      </dsp:txXfrm>
    </dsp:sp>
    <dsp:sp modelId="{7DD21AF4-8990-4442-9E8C-99CBF34FB0AC}">
      <dsp:nvSpPr>
        <dsp:cNvPr id="0" name=""/>
        <dsp:cNvSpPr/>
      </dsp:nvSpPr>
      <dsp:spPr>
        <a:xfrm>
          <a:off x="609259" y="3076243"/>
          <a:ext cx="2889931" cy="2342423"/>
        </a:xfrm>
        <a:prstGeom prst="round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150000"/>
            </a:lnSpc>
            <a:spcBef>
              <a:spcPct val="0"/>
            </a:spcBef>
            <a:spcAft>
              <a:spcPct val="35000"/>
            </a:spcAft>
            <a:buFont typeface="Arial" panose="020B0604020202020204" pitchFamily="34" charset="0"/>
            <a:buNone/>
          </a:pPr>
          <a:r>
            <a:rPr lang="en-US" sz="1100" b="1" kern="1200" dirty="0">
              <a:solidFill>
                <a:srgbClr val="FF0000"/>
              </a:solidFill>
            </a:rPr>
            <a:t>Next Steps to Outperform</a:t>
          </a:r>
        </a:p>
        <a:p>
          <a:pPr marL="0" lvl="0" indent="0" algn="l" defTabSz="488950">
            <a:lnSpc>
              <a:spcPct val="150000"/>
            </a:lnSpc>
            <a:spcBef>
              <a:spcPct val="0"/>
            </a:spcBef>
            <a:spcAft>
              <a:spcPct val="35000"/>
            </a:spcAft>
            <a:buFont typeface="Arial" panose="020B0604020202020204" pitchFamily="34" charset="0"/>
            <a:buNone/>
          </a:pPr>
          <a:r>
            <a:rPr lang="en-US" sz="1100" kern="1200" dirty="0">
              <a:solidFill>
                <a:srgbClr val="FF0000"/>
              </a:solidFill>
            </a:rPr>
            <a:t>Pilot deployment with government disaster authority.</a:t>
          </a:r>
        </a:p>
        <a:p>
          <a:pPr marL="0" lvl="0" indent="0" algn="l" defTabSz="488950">
            <a:lnSpc>
              <a:spcPct val="150000"/>
            </a:lnSpc>
            <a:spcBef>
              <a:spcPct val="0"/>
            </a:spcBef>
            <a:spcAft>
              <a:spcPct val="35000"/>
            </a:spcAft>
            <a:buFont typeface="Arial" panose="020B0604020202020204" pitchFamily="34" charset="0"/>
            <a:buNone/>
          </a:pPr>
          <a:r>
            <a:rPr lang="en-US" sz="1100" kern="1200" dirty="0">
              <a:solidFill>
                <a:srgbClr val="FF0000"/>
              </a:solidFill>
            </a:rPr>
            <a:t>Integrate IoT-based occupancy sensors for accurate live data.</a:t>
          </a:r>
        </a:p>
        <a:p>
          <a:pPr marL="0" lvl="0" indent="0" algn="l" defTabSz="488950">
            <a:lnSpc>
              <a:spcPct val="150000"/>
            </a:lnSpc>
            <a:spcBef>
              <a:spcPct val="0"/>
            </a:spcBef>
            <a:spcAft>
              <a:spcPct val="35000"/>
            </a:spcAft>
            <a:buFont typeface="Arial" panose="020B0604020202020204" pitchFamily="34" charset="0"/>
            <a:buNone/>
          </a:pPr>
          <a:r>
            <a:rPr lang="en-US" sz="1100" kern="1200" dirty="0">
              <a:solidFill>
                <a:srgbClr val="FF0000"/>
              </a:solidFill>
            </a:rPr>
            <a:t>Publish validation results &amp; scale through state-level partnerships.</a:t>
          </a:r>
        </a:p>
      </dsp:txBody>
      <dsp:txXfrm>
        <a:off x="723607" y="3190591"/>
        <a:ext cx="2661235" cy="2113727"/>
      </dsp:txXfrm>
    </dsp:sp>
    <dsp:sp modelId="{517BF87A-6F8F-4CAB-98BF-8A185B1B263C}">
      <dsp:nvSpPr>
        <dsp:cNvPr id="0" name=""/>
        <dsp:cNvSpPr/>
      </dsp:nvSpPr>
      <dsp:spPr>
        <a:xfrm>
          <a:off x="4295270" y="3072091"/>
          <a:ext cx="2996441" cy="2281264"/>
        </a:xfrm>
        <a:prstGeom prst="round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150000"/>
            </a:lnSpc>
            <a:spcBef>
              <a:spcPct val="0"/>
            </a:spcBef>
            <a:spcAft>
              <a:spcPct val="35000"/>
            </a:spcAft>
            <a:buNone/>
          </a:pPr>
          <a:r>
            <a:rPr lang="en-US" sz="1100" b="1" kern="1200" dirty="0">
              <a:solidFill>
                <a:srgbClr val="FF0000"/>
              </a:solidFill>
            </a:rPr>
            <a:t>Revenue &amp; Sustainability Model </a:t>
          </a:r>
        </a:p>
        <a:p>
          <a:pPr marL="0" lvl="0" indent="0" algn="l" defTabSz="488950">
            <a:lnSpc>
              <a:spcPct val="150000"/>
            </a:lnSpc>
            <a:spcBef>
              <a:spcPct val="0"/>
            </a:spcBef>
            <a:spcAft>
              <a:spcPct val="35000"/>
            </a:spcAft>
            <a:buNone/>
          </a:pPr>
          <a:r>
            <a:rPr lang="en-US" sz="1100" kern="1200" dirty="0">
              <a:solidFill>
                <a:srgbClr val="FF0000"/>
              </a:solidFill>
            </a:rPr>
            <a:t>SaaS-based licensing for government bodies.</a:t>
          </a:r>
        </a:p>
        <a:p>
          <a:pPr marL="0" lvl="0" indent="0" algn="l" defTabSz="488950">
            <a:lnSpc>
              <a:spcPct val="150000"/>
            </a:lnSpc>
            <a:spcBef>
              <a:spcPct val="0"/>
            </a:spcBef>
            <a:spcAft>
              <a:spcPct val="35000"/>
            </a:spcAft>
            <a:buNone/>
          </a:pPr>
          <a:r>
            <a:rPr lang="en-US" sz="1100" kern="1200" dirty="0">
              <a:solidFill>
                <a:srgbClr val="FF0000"/>
              </a:solidFill>
            </a:rPr>
            <a:t>Customization &amp; integration contracts at district/state level.</a:t>
          </a:r>
        </a:p>
        <a:p>
          <a:pPr marL="0" lvl="0" indent="0" algn="l" defTabSz="488950">
            <a:lnSpc>
              <a:spcPct val="150000"/>
            </a:lnSpc>
            <a:spcBef>
              <a:spcPct val="0"/>
            </a:spcBef>
            <a:spcAft>
              <a:spcPct val="35000"/>
            </a:spcAft>
            <a:buNone/>
          </a:pPr>
          <a:r>
            <a:rPr lang="en-US" sz="1100" kern="1200" dirty="0">
              <a:solidFill>
                <a:srgbClr val="FF0000"/>
              </a:solidFill>
            </a:rPr>
            <a:t>Long-term maintenance &amp; analytics subscription model.</a:t>
          </a:r>
        </a:p>
      </dsp:txBody>
      <dsp:txXfrm>
        <a:off x="4406632" y="3183453"/>
        <a:ext cx="2773717" cy="2058540"/>
      </dsp:txXfrm>
    </dsp:sp>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8AF70A90-CA7E-49EB-AB17-C37FEDD075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a:extLst>
              <a:ext uri="{FF2B5EF4-FFF2-40B4-BE49-F238E27FC236}">
                <a16:creationId xmlns:a16="http://schemas.microsoft.com/office/drawing/2014/main" id="{5A7711EA-1FBE-4E98-9D43-C2D65C45D0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8ABEA4-9216-4FDF-AAE1-D8632908A8EC}" type="datetimeFigureOut">
              <a:rPr lang="de-CH" smtClean="0"/>
              <a:t>19.02.2026</a:t>
            </a:fld>
            <a:endParaRPr lang="de-CH"/>
          </a:p>
        </p:txBody>
      </p:sp>
      <p:sp>
        <p:nvSpPr>
          <p:cNvPr id="4" name="Fußzeilenplatzhalter 3">
            <a:extLst>
              <a:ext uri="{FF2B5EF4-FFF2-40B4-BE49-F238E27FC236}">
                <a16:creationId xmlns:a16="http://schemas.microsoft.com/office/drawing/2014/main" id="{82CCD3C8-8930-4E0E-A891-B770724F2B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5" name="Foliennummernplatzhalter 4">
            <a:extLst>
              <a:ext uri="{FF2B5EF4-FFF2-40B4-BE49-F238E27FC236}">
                <a16:creationId xmlns:a16="http://schemas.microsoft.com/office/drawing/2014/main" id="{A7798FB5-86BC-42DA-9D05-F96D484814F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685DCD-866D-47AE-A236-118539F53379}" type="slidenum">
              <a:rPr lang="de-CH" smtClean="0"/>
              <a:t>‹#›</a:t>
            </a:fld>
            <a:endParaRPr lang="de-CH"/>
          </a:p>
        </p:txBody>
      </p:sp>
    </p:spTree>
    <p:extLst>
      <p:ext uri="{BB962C8B-B14F-4D97-AF65-F5344CB8AC3E}">
        <p14:creationId xmlns:p14="http://schemas.microsoft.com/office/powerpoint/2010/main" val="14232272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78A90D-FE7E-41AF-B03D-808D82937CB9}" type="datetimeFigureOut">
              <a:rPr lang="de-CH" smtClean="0"/>
              <a:t>19.02.2026</a:t>
            </a:fld>
            <a:endParaRPr lang="de-CH"/>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15DDFD-030C-4D5A-B33E-3A7E7538D2BE}" type="slidenum">
              <a:rPr lang="de-CH" smtClean="0"/>
              <a:t>‹#›</a:t>
            </a:fld>
            <a:endParaRPr lang="de-CH"/>
          </a:p>
        </p:txBody>
      </p:sp>
    </p:spTree>
    <p:extLst>
      <p:ext uri="{BB962C8B-B14F-4D97-AF65-F5344CB8AC3E}">
        <p14:creationId xmlns:p14="http://schemas.microsoft.com/office/powerpoint/2010/main" val="44149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1</a:t>
            </a:fld>
            <a:endParaRPr lang="de-CH"/>
          </a:p>
        </p:txBody>
      </p:sp>
    </p:spTree>
    <p:extLst>
      <p:ext uri="{BB962C8B-B14F-4D97-AF65-F5344CB8AC3E}">
        <p14:creationId xmlns:p14="http://schemas.microsoft.com/office/powerpoint/2010/main" val="5996271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2</a:t>
            </a:fld>
            <a:endParaRPr lang="de-CH"/>
          </a:p>
        </p:txBody>
      </p:sp>
    </p:spTree>
    <p:extLst>
      <p:ext uri="{BB962C8B-B14F-4D97-AF65-F5344CB8AC3E}">
        <p14:creationId xmlns:p14="http://schemas.microsoft.com/office/powerpoint/2010/main" val="895119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3</a:t>
            </a:fld>
            <a:endParaRPr lang="de-CH"/>
          </a:p>
        </p:txBody>
      </p:sp>
    </p:spTree>
    <p:extLst>
      <p:ext uri="{BB962C8B-B14F-4D97-AF65-F5344CB8AC3E}">
        <p14:creationId xmlns:p14="http://schemas.microsoft.com/office/powerpoint/2010/main" val="33383229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4</a:t>
            </a:fld>
            <a:endParaRPr lang="de-CH"/>
          </a:p>
        </p:txBody>
      </p:sp>
    </p:spTree>
    <p:extLst>
      <p:ext uri="{BB962C8B-B14F-4D97-AF65-F5344CB8AC3E}">
        <p14:creationId xmlns:p14="http://schemas.microsoft.com/office/powerpoint/2010/main" val="604019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5</a:t>
            </a:fld>
            <a:endParaRPr lang="de-CH"/>
          </a:p>
        </p:txBody>
      </p:sp>
    </p:spTree>
    <p:extLst>
      <p:ext uri="{BB962C8B-B14F-4D97-AF65-F5344CB8AC3E}">
        <p14:creationId xmlns:p14="http://schemas.microsoft.com/office/powerpoint/2010/main" val="6069665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6</a:t>
            </a:fld>
            <a:endParaRPr lang="de-CH"/>
          </a:p>
        </p:txBody>
      </p:sp>
    </p:spTree>
    <p:extLst>
      <p:ext uri="{BB962C8B-B14F-4D97-AF65-F5344CB8AC3E}">
        <p14:creationId xmlns:p14="http://schemas.microsoft.com/office/powerpoint/2010/main" val="15541959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7</a:t>
            </a:fld>
            <a:endParaRPr lang="de-CH"/>
          </a:p>
        </p:txBody>
      </p:sp>
    </p:spTree>
    <p:extLst>
      <p:ext uri="{BB962C8B-B14F-4D97-AF65-F5344CB8AC3E}">
        <p14:creationId xmlns:p14="http://schemas.microsoft.com/office/powerpoint/2010/main" val="21779883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8</a:t>
            </a:fld>
            <a:endParaRPr lang="de-CH"/>
          </a:p>
        </p:txBody>
      </p:sp>
    </p:spTree>
    <p:extLst>
      <p:ext uri="{BB962C8B-B14F-4D97-AF65-F5344CB8AC3E}">
        <p14:creationId xmlns:p14="http://schemas.microsoft.com/office/powerpoint/2010/main" val="25736358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9</a:t>
            </a:fld>
            <a:endParaRPr lang="de-CH"/>
          </a:p>
        </p:txBody>
      </p:sp>
    </p:spTree>
    <p:extLst>
      <p:ext uri="{BB962C8B-B14F-4D97-AF65-F5344CB8AC3E}">
        <p14:creationId xmlns:p14="http://schemas.microsoft.com/office/powerpoint/2010/main" val="12959295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10</a:t>
            </a:fld>
            <a:endParaRPr lang="de-CH"/>
          </a:p>
        </p:txBody>
      </p:sp>
    </p:spTree>
    <p:extLst>
      <p:ext uri="{BB962C8B-B14F-4D97-AF65-F5344CB8AC3E}">
        <p14:creationId xmlns:p14="http://schemas.microsoft.com/office/powerpoint/2010/main" val="2482437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11</a:t>
            </a:fld>
            <a:endParaRPr lang="de-CH"/>
          </a:p>
        </p:txBody>
      </p:sp>
    </p:spTree>
    <p:extLst>
      <p:ext uri="{BB962C8B-B14F-4D97-AF65-F5344CB8AC3E}">
        <p14:creationId xmlns:p14="http://schemas.microsoft.com/office/powerpoint/2010/main" val="40035946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12</a:t>
            </a:fld>
            <a:endParaRPr lang="de-CH"/>
          </a:p>
        </p:txBody>
      </p:sp>
    </p:spTree>
    <p:extLst>
      <p:ext uri="{BB962C8B-B14F-4D97-AF65-F5344CB8AC3E}">
        <p14:creationId xmlns:p14="http://schemas.microsoft.com/office/powerpoint/2010/main" val="15646717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13</a:t>
            </a:fld>
            <a:endParaRPr lang="de-CH"/>
          </a:p>
        </p:txBody>
      </p:sp>
    </p:spTree>
    <p:extLst>
      <p:ext uri="{BB962C8B-B14F-4D97-AF65-F5344CB8AC3E}">
        <p14:creationId xmlns:p14="http://schemas.microsoft.com/office/powerpoint/2010/main" val="40271489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14</a:t>
            </a:fld>
            <a:endParaRPr lang="de-CH"/>
          </a:p>
        </p:txBody>
      </p:sp>
    </p:spTree>
    <p:extLst>
      <p:ext uri="{BB962C8B-B14F-4D97-AF65-F5344CB8AC3E}">
        <p14:creationId xmlns:p14="http://schemas.microsoft.com/office/powerpoint/2010/main" val="20752119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15</a:t>
            </a:fld>
            <a:endParaRPr lang="de-CH"/>
          </a:p>
        </p:txBody>
      </p:sp>
    </p:spTree>
    <p:extLst>
      <p:ext uri="{BB962C8B-B14F-4D97-AF65-F5344CB8AC3E}">
        <p14:creationId xmlns:p14="http://schemas.microsoft.com/office/powerpoint/2010/main" val="23365863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itchFamily="2" charset="2"/>
              <a:buChar char="§"/>
            </a:pPr>
            <a:endParaRPr lang="en-GB"/>
          </a:p>
        </p:txBody>
      </p:sp>
      <p:sp>
        <p:nvSpPr>
          <p:cNvPr id="4" name="Slide Number Placeholder 3"/>
          <p:cNvSpPr>
            <a:spLocks noGrp="1"/>
          </p:cNvSpPr>
          <p:nvPr>
            <p:ph type="sldNum" sz="quarter" idx="10"/>
          </p:nvPr>
        </p:nvSpPr>
        <p:spPr/>
        <p:txBody>
          <a:bodyPr/>
          <a:lstStyle/>
          <a:p>
            <a:fld id="{F615DDFD-030C-4D5A-B33E-3A7E7538D2BE}" type="slidenum">
              <a:rPr lang="de-CH" smtClean="0"/>
              <a:t>16</a:t>
            </a:fld>
            <a:endParaRPr lang="de-CH"/>
          </a:p>
        </p:txBody>
      </p:sp>
    </p:spTree>
    <p:extLst>
      <p:ext uri="{BB962C8B-B14F-4D97-AF65-F5344CB8AC3E}">
        <p14:creationId xmlns:p14="http://schemas.microsoft.com/office/powerpoint/2010/main" val="2242149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de-DE" noProof="0"/>
              <a:t>Titelmasterformat durch Klicken bearbeiten</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p:txBody>
          <a:bodyPr/>
          <a:lstStyle>
            <a:lvl1pPr marL="539750" indent="-539750">
              <a:buFont typeface="+mj-lt"/>
              <a:buAutoNum type="arabicPeriod"/>
              <a:defRPr/>
            </a:lvl1pPr>
            <a:lvl2pPr marL="1079500" indent="-539750">
              <a:buFont typeface="+mj-lt"/>
              <a:buAutoNum type="arabicPeriod"/>
              <a:defRPr/>
            </a:lvl2pPr>
            <a:lvl3pPr marL="1612900" indent="-533400">
              <a:buFont typeface="+mj-lt"/>
              <a:buAutoNum type="arabicPeriod"/>
              <a:defRPr/>
            </a:lvl3pPr>
            <a:lvl4pPr marL="2152650" indent="-539750">
              <a:buFont typeface="+mj-lt"/>
              <a:buAutoNum type="arabicPeriod"/>
              <a:defRPr/>
            </a:lvl4pPr>
            <a:lvl5pPr marL="2692400" indent="-539750">
              <a:buFont typeface="+mj-lt"/>
              <a:buAutoNum type="arabicPeriod"/>
              <a:defRPr/>
            </a:lvl5pPr>
          </a:lstStyle>
          <a:p>
            <a:pPr lvl="0"/>
            <a:r>
              <a:rPr lang="de-DE" noProof="0"/>
              <a:t>Formatvorlagen des Textmasters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spTree>
    <p:extLst>
      <p:ext uri="{BB962C8B-B14F-4D97-AF65-F5344CB8AC3E}">
        <p14:creationId xmlns:p14="http://schemas.microsoft.com/office/powerpoint/2010/main" val="22215997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web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9CEF804-E58C-481B-A606-7D35AF68FF55}"/>
              </a:ext>
            </a:extLst>
          </p:cNvPr>
          <p:cNvSpPr>
            <a:spLocks noGrp="1"/>
          </p:cNvSpPr>
          <p:nvPr>
            <p:ph type="title"/>
          </p:nvPr>
        </p:nvSpPr>
        <p:spPr>
          <a:xfrm>
            <a:off x="731837" y="463911"/>
            <a:ext cx="10728325" cy="696439"/>
          </a:xfrm>
          <a:prstGeom prst="rect">
            <a:avLst/>
          </a:prstGeom>
        </p:spPr>
        <p:txBody>
          <a:bodyPr vert="horz" lIns="0" tIns="0" rIns="0" bIns="0" rtlCol="0" anchor="t" anchorCtr="0">
            <a:noAutofit/>
          </a:bodyPr>
          <a:lstStyle/>
          <a:p>
            <a:r>
              <a:rPr lang="de-CH" noProof="0" dirty="0"/>
              <a:t>Mastertitelformat bearbeiten</a:t>
            </a:r>
          </a:p>
        </p:txBody>
      </p:sp>
      <p:sp>
        <p:nvSpPr>
          <p:cNvPr id="3" name="Textplatzhalter 2">
            <a:extLst>
              <a:ext uri="{FF2B5EF4-FFF2-40B4-BE49-F238E27FC236}">
                <a16:creationId xmlns:a16="http://schemas.microsoft.com/office/drawing/2014/main" id="{65C6EC0D-393C-42F2-B6A7-B19C9B098F2D}"/>
              </a:ext>
            </a:extLst>
          </p:cNvPr>
          <p:cNvSpPr>
            <a:spLocks noGrp="1"/>
          </p:cNvSpPr>
          <p:nvPr>
            <p:ph type="body" idx="1"/>
          </p:nvPr>
        </p:nvSpPr>
        <p:spPr>
          <a:xfrm>
            <a:off x="731837" y="1412875"/>
            <a:ext cx="10728325" cy="4680000"/>
          </a:xfrm>
          <a:prstGeom prst="rect">
            <a:avLst/>
          </a:prstGeom>
        </p:spPr>
        <p:txBody>
          <a:bodyPr vert="horz" lIns="0" tIns="0" rIns="0" bIns="0" rtlCol="0">
            <a:noAutofit/>
          </a:bodyPr>
          <a:lstStyle/>
          <a:p>
            <a:pPr lvl="0"/>
            <a:r>
              <a:rPr lang="de-CH" noProof="0"/>
              <a:t>Mastertextformat bearbeiten</a:t>
            </a:r>
          </a:p>
          <a:p>
            <a:pPr lvl="1"/>
            <a:r>
              <a:rPr lang="de-CH" noProof="0"/>
              <a:t>Zweite Ebene</a:t>
            </a:r>
          </a:p>
          <a:p>
            <a:pPr lvl="2"/>
            <a:r>
              <a:rPr lang="de-CH" noProof="0"/>
              <a:t>Dritte Ebene</a:t>
            </a:r>
          </a:p>
          <a:p>
            <a:pPr lvl="3"/>
            <a:r>
              <a:rPr lang="de-CH" noProof="0"/>
              <a:t>Vierte Ebene</a:t>
            </a:r>
          </a:p>
          <a:p>
            <a:pPr lvl="4"/>
            <a:r>
              <a:rPr lang="de-CH" noProof="0"/>
              <a:t>Fünfte Ebene</a:t>
            </a:r>
          </a:p>
        </p:txBody>
      </p:sp>
      <p:sp>
        <p:nvSpPr>
          <p:cNvPr id="6" name="Foliennummernplatzhalter 5">
            <a:extLst>
              <a:ext uri="{FF2B5EF4-FFF2-40B4-BE49-F238E27FC236}">
                <a16:creationId xmlns:a16="http://schemas.microsoft.com/office/drawing/2014/main" id="{7FDFCC57-7DDC-4B2C-A6BE-862DAF9C9F11}"/>
              </a:ext>
            </a:extLst>
          </p:cNvPr>
          <p:cNvSpPr>
            <a:spLocks noGrp="1"/>
          </p:cNvSpPr>
          <p:nvPr>
            <p:ph type="sldNum" sz="quarter" idx="4"/>
          </p:nvPr>
        </p:nvSpPr>
        <p:spPr>
          <a:xfrm>
            <a:off x="11137585" y="6522444"/>
            <a:ext cx="322577" cy="216000"/>
          </a:xfrm>
          <a:prstGeom prst="rect">
            <a:avLst/>
          </a:prstGeom>
        </p:spPr>
        <p:txBody>
          <a:bodyPr vert="horz" lIns="0" tIns="0" rIns="0" bIns="0" rtlCol="0" anchor="ctr"/>
          <a:lstStyle>
            <a:lvl1pPr algn="r">
              <a:defRPr sz="800">
                <a:solidFill>
                  <a:schemeClr val="tx1"/>
                </a:solidFill>
              </a:defRPr>
            </a:lvl1pPr>
          </a:lstStyle>
          <a:p>
            <a:fld id="{5ACA52AF-F19D-405C-AD5F-7D94B96A5CC3}" type="slidenum">
              <a:rPr lang="de-CH" noProof="0" smtClean="0"/>
              <a:pPr/>
              <a:t>‹#›</a:t>
            </a:fld>
            <a:endParaRPr lang="de-CH" noProof="0"/>
          </a:p>
        </p:txBody>
      </p:sp>
      <p:pic>
        <p:nvPicPr>
          <p:cNvPr id="7" name="Google Shape;86;p1" descr="Sairam_logo-removebg-preview.png">
            <a:extLst>
              <a:ext uri="{FF2B5EF4-FFF2-40B4-BE49-F238E27FC236}">
                <a16:creationId xmlns:a16="http://schemas.microsoft.com/office/drawing/2014/main" id="{25162466-838B-2768-2B6C-4F1327AB23E7}"/>
              </a:ext>
            </a:extLst>
          </p:cNvPr>
          <p:cNvPicPr preferRelativeResize="0"/>
          <p:nvPr userDrawn="1"/>
        </p:nvPicPr>
        <p:blipFill rotWithShape="1">
          <a:blip r:embed="rId3">
            <a:alphaModFix/>
          </a:blip>
          <a:srcRect/>
          <a:stretch/>
        </p:blipFill>
        <p:spPr>
          <a:xfrm>
            <a:off x="609600" y="6411745"/>
            <a:ext cx="1070924" cy="365125"/>
          </a:xfrm>
          <a:prstGeom prst="rect">
            <a:avLst/>
          </a:prstGeom>
          <a:noFill/>
          <a:ln>
            <a:noFill/>
          </a:ln>
        </p:spPr>
      </p:pic>
      <p:pic>
        <p:nvPicPr>
          <p:cNvPr id="8" name="Picture 7">
            <a:extLst>
              <a:ext uri="{FF2B5EF4-FFF2-40B4-BE49-F238E27FC236}">
                <a16:creationId xmlns:a16="http://schemas.microsoft.com/office/drawing/2014/main" id="{A95472F4-39AB-05F8-4820-CCE5A8FBA21A}"/>
              </a:ext>
            </a:extLst>
          </p:cNvPr>
          <p:cNvPicPr>
            <a:picLocks noChangeAspect="1"/>
          </p:cNvPicPr>
          <p:nvPr userDrawn="1"/>
        </p:nvPicPr>
        <p:blipFill>
          <a:blip r:embed="rId4"/>
          <a:stretch>
            <a:fillRect/>
          </a:stretch>
        </p:blipFill>
        <p:spPr>
          <a:xfrm>
            <a:off x="1762740" y="6407827"/>
            <a:ext cx="1028122" cy="369043"/>
          </a:xfrm>
          <a:prstGeom prst="rect">
            <a:avLst/>
          </a:prstGeom>
        </p:spPr>
      </p:pic>
      <p:pic>
        <p:nvPicPr>
          <p:cNvPr id="9" name="Picture 8">
            <a:extLst>
              <a:ext uri="{FF2B5EF4-FFF2-40B4-BE49-F238E27FC236}">
                <a16:creationId xmlns:a16="http://schemas.microsoft.com/office/drawing/2014/main" id="{1A68A9FC-1E68-17C5-01FA-855274637456}"/>
              </a:ext>
            </a:extLst>
          </p:cNvPr>
          <p:cNvPicPr>
            <a:picLocks noChangeAspect="1"/>
          </p:cNvPicPr>
          <p:nvPr userDrawn="1"/>
        </p:nvPicPr>
        <p:blipFill>
          <a:blip r:embed="rId5"/>
          <a:stretch>
            <a:fillRect/>
          </a:stretch>
        </p:blipFill>
        <p:spPr>
          <a:xfrm>
            <a:off x="2914359" y="6498296"/>
            <a:ext cx="1127744" cy="188104"/>
          </a:xfrm>
          <a:prstGeom prst="rect">
            <a:avLst/>
          </a:prstGeom>
        </p:spPr>
      </p:pic>
      <p:pic>
        <p:nvPicPr>
          <p:cNvPr id="10" name="Google Shape;87;p1" descr="Chairman-Logo.png">
            <a:extLst>
              <a:ext uri="{FF2B5EF4-FFF2-40B4-BE49-F238E27FC236}">
                <a16:creationId xmlns:a16="http://schemas.microsoft.com/office/drawing/2014/main" id="{50AB439F-D112-8F2E-3BA3-B037DA707209}"/>
              </a:ext>
            </a:extLst>
          </p:cNvPr>
          <p:cNvPicPr preferRelativeResize="0"/>
          <p:nvPr userDrawn="1"/>
        </p:nvPicPr>
        <p:blipFill rotWithShape="1">
          <a:blip r:embed="rId6">
            <a:alphaModFix/>
          </a:blip>
          <a:srcRect/>
          <a:stretch/>
        </p:blipFill>
        <p:spPr>
          <a:xfrm>
            <a:off x="95384" y="6378308"/>
            <a:ext cx="432000" cy="432000"/>
          </a:xfrm>
          <a:prstGeom prst="rect">
            <a:avLst/>
          </a:prstGeom>
          <a:noFill/>
          <a:ln>
            <a:noFill/>
          </a:ln>
        </p:spPr>
      </p:pic>
      <p:pic>
        <p:nvPicPr>
          <p:cNvPr id="11" name="Picture 10">
            <a:extLst>
              <a:ext uri="{FF2B5EF4-FFF2-40B4-BE49-F238E27FC236}">
                <a16:creationId xmlns:a16="http://schemas.microsoft.com/office/drawing/2014/main" id="{42DA1B3D-F7C0-3CA0-D11D-5596503ACF79}"/>
              </a:ext>
            </a:extLst>
          </p:cNvPr>
          <p:cNvPicPr>
            <a:picLocks noChangeAspect="1"/>
          </p:cNvPicPr>
          <p:nvPr userDrawn="1"/>
        </p:nvPicPr>
        <p:blipFill rotWithShape="1">
          <a:blip r:embed="rId7"/>
          <a:srcRect l="4202" t="23370" r="7563" b="24223"/>
          <a:stretch/>
        </p:blipFill>
        <p:spPr>
          <a:xfrm>
            <a:off x="131715" y="103912"/>
            <a:ext cx="1737340" cy="341451"/>
          </a:xfrm>
          <a:prstGeom prst="rect">
            <a:avLst/>
          </a:prstGeom>
        </p:spPr>
      </p:pic>
      <p:pic>
        <p:nvPicPr>
          <p:cNvPr id="12" name="Google Shape;89;p1" descr="INNOVATION_LOGO-removebg-preview.png">
            <a:extLst>
              <a:ext uri="{FF2B5EF4-FFF2-40B4-BE49-F238E27FC236}">
                <a16:creationId xmlns:a16="http://schemas.microsoft.com/office/drawing/2014/main" id="{E05FCD9F-5E8F-9748-C849-6F7F0BAE4D45}"/>
              </a:ext>
            </a:extLst>
          </p:cNvPr>
          <p:cNvPicPr preferRelativeResize="0">
            <a:picLocks noChangeAspect="1"/>
          </p:cNvPicPr>
          <p:nvPr userDrawn="1"/>
        </p:nvPicPr>
        <p:blipFill rotWithShape="1">
          <a:blip r:embed="rId8">
            <a:alphaModFix/>
          </a:blip>
          <a:srcRect/>
          <a:stretch/>
        </p:blipFill>
        <p:spPr>
          <a:xfrm>
            <a:off x="11081275" y="103912"/>
            <a:ext cx="979010" cy="360000"/>
          </a:xfrm>
          <a:prstGeom prst="rect">
            <a:avLst/>
          </a:prstGeom>
          <a:noFill/>
          <a:ln>
            <a:noFill/>
          </a:ln>
        </p:spPr>
      </p:pic>
    </p:spTree>
    <p:extLst>
      <p:ext uri="{BB962C8B-B14F-4D97-AF65-F5344CB8AC3E}">
        <p14:creationId xmlns:p14="http://schemas.microsoft.com/office/powerpoint/2010/main" val="409606273"/>
      </p:ext>
    </p:extLst>
  </p:cSld>
  <p:clrMap bg1="lt1" tx1="dk1" bg2="lt2" tx2="dk2" accent1="accent1" accent2="accent2" accent3="accent3" accent4="accent4" accent5="accent5" accent6="accent6" hlink="hlink" folHlink="folHlink"/>
  <p:sldLayoutIdLst>
    <p:sldLayoutId id="2147483650" r:id="rId1"/>
  </p:sldLayoutIdLst>
  <p:hf hdr="0"/>
  <p:txStyles>
    <p:titleStyle>
      <a:lvl1pPr algn="l" defTabSz="914400" rtl="0" eaLnBrk="1" latinLnBrk="0" hangingPunct="1">
        <a:lnSpc>
          <a:spcPct val="90000"/>
        </a:lnSpc>
        <a:spcBef>
          <a:spcPct val="0"/>
        </a:spcBef>
        <a:buNone/>
        <a:defRPr sz="2600" kern="1200">
          <a:solidFill>
            <a:schemeClr val="tx1"/>
          </a:solidFill>
          <a:latin typeface="+mj-lt"/>
          <a:ea typeface="+mj-ea"/>
          <a:cs typeface="+mj-cs"/>
        </a:defRPr>
      </a:lvl1pPr>
    </p:titleStyle>
    <p:bodyStyle>
      <a:lvl1pPr marL="270000" indent="-270000"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461" userDrawn="1">
          <p15:clr>
            <a:srgbClr val="F26B43"/>
          </p15:clr>
        </p15:guide>
        <p15:guide id="3" pos="7219" userDrawn="1">
          <p15:clr>
            <a:srgbClr val="F26B43"/>
          </p15:clr>
        </p15:guide>
        <p15:guide id="4" orient="horz" pos="164" userDrawn="1">
          <p15:clr>
            <a:srgbClr val="F26B43"/>
          </p15:clr>
        </p15:guide>
        <p15:guide id="5" orient="horz" pos="890" userDrawn="1">
          <p15:clr>
            <a:srgbClr val="F26B43"/>
          </p15:clr>
        </p15:guide>
        <p15:guide id="6" orient="horz" pos="4201" userDrawn="1">
          <p15:clr>
            <a:srgbClr val="F26B43"/>
          </p15:clr>
        </p15:guide>
        <p15:guide id="7"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1</a:t>
            </a:fld>
            <a:endParaRPr lang="de-CH" noProof="0">
              <a:latin typeface="Corbel" panose="020B0503020204020204" pitchFamily="34" charset="0"/>
            </a:endParaRPr>
          </a:p>
        </p:txBody>
      </p:sp>
      <p:sp>
        <p:nvSpPr>
          <p:cNvPr id="6" name="TextBox 5">
            <a:extLst>
              <a:ext uri="{FF2B5EF4-FFF2-40B4-BE49-F238E27FC236}">
                <a16:creationId xmlns:a16="http://schemas.microsoft.com/office/drawing/2014/main" id="{75137C72-64B4-1745-AF49-9869D2E753CD}"/>
              </a:ext>
            </a:extLst>
          </p:cNvPr>
          <p:cNvSpPr txBox="1"/>
          <p:nvPr/>
        </p:nvSpPr>
        <p:spPr>
          <a:xfrm>
            <a:off x="4428432" y="1319990"/>
            <a:ext cx="4939748" cy="707886"/>
          </a:xfrm>
          <a:prstGeom prst="rect">
            <a:avLst/>
          </a:prstGeom>
          <a:noFill/>
        </p:spPr>
        <p:txBody>
          <a:bodyPr wrap="square" rtlCol="0">
            <a:spAutoFit/>
          </a:bodyPr>
          <a:lstStyle/>
          <a:p>
            <a:pPr algn="ctr"/>
            <a:r>
              <a:rPr lang="en-US" sz="4000" b="1" u="sng" dirty="0">
                <a:solidFill>
                  <a:srgbClr val="FF0000"/>
                </a:solidFill>
              </a:rPr>
              <a:t>SHELTERSYNC AI</a:t>
            </a:r>
            <a:endParaRPr lang="en-CH" sz="4000" b="1" u="sng" dirty="0">
              <a:solidFill>
                <a:srgbClr val="FF0000"/>
              </a:solidFill>
            </a:endParaRPr>
          </a:p>
        </p:txBody>
      </p:sp>
      <p:sp>
        <p:nvSpPr>
          <p:cNvPr id="8" name="TextBox 7">
            <a:extLst>
              <a:ext uri="{FF2B5EF4-FFF2-40B4-BE49-F238E27FC236}">
                <a16:creationId xmlns:a16="http://schemas.microsoft.com/office/drawing/2014/main" id="{9DC23146-16DD-4868-5A6C-BB2D4AC01BDF}"/>
              </a:ext>
            </a:extLst>
          </p:cNvPr>
          <p:cNvSpPr txBox="1"/>
          <p:nvPr/>
        </p:nvSpPr>
        <p:spPr>
          <a:xfrm>
            <a:off x="1927708" y="3429000"/>
            <a:ext cx="8717761" cy="1015663"/>
          </a:xfrm>
          <a:prstGeom prst="rect">
            <a:avLst/>
          </a:prstGeom>
          <a:noFill/>
          <a:ln w="6350">
            <a:solidFill>
              <a:schemeClr val="tx1"/>
            </a:solidFill>
          </a:ln>
        </p:spPr>
        <p:txBody>
          <a:bodyPr wrap="square" rtlCol="0">
            <a:spAutoFit/>
          </a:bodyPr>
          <a:lstStyle/>
          <a:p>
            <a:r>
              <a:rPr lang="en-CH" sz="2000" dirty="0"/>
              <a:t>Team Name: </a:t>
            </a:r>
            <a:r>
              <a:rPr lang="en-US" sz="2000" dirty="0">
                <a:solidFill>
                  <a:srgbClr val="FF0000"/>
                </a:solidFill>
              </a:rPr>
              <a:t>Squad Busters</a:t>
            </a:r>
            <a:endParaRPr lang="en-CH" sz="2000" dirty="0">
              <a:solidFill>
                <a:srgbClr val="FF0000"/>
              </a:solidFill>
            </a:endParaRPr>
          </a:p>
          <a:p>
            <a:r>
              <a:rPr lang="en-CH" sz="2000" dirty="0"/>
              <a:t>Email of Team Leader: </a:t>
            </a:r>
            <a:r>
              <a:rPr lang="en-US" sz="2000" dirty="0">
                <a:solidFill>
                  <a:srgbClr val="FF0000"/>
                </a:solidFill>
              </a:rPr>
              <a:t>sit22ec075</a:t>
            </a:r>
            <a:r>
              <a:rPr lang="en-CH" sz="2000" dirty="0"/>
              <a:t>@sairamtap.edu.in</a:t>
            </a:r>
          </a:p>
          <a:p>
            <a:r>
              <a:rPr lang="en-CH" sz="2000" dirty="0"/>
              <a:t>UN Grand Challenge: </a:t>
            </a:r>
            <a:r>
              <a:rPr lang="en-CH" sz="2000" dirty="0">
                <a:solidFill>
                  <a:srgbClr val="FF0000"/>
                </a:solidFill>
              </a:rPr>
              <a:t>{SDG </a:t>
            </a:r>
            <a:r>
              <a:rPr lang="en-US" sz="2000" dirty="0">
                <a:solidFill>
                  <a:srgbClr val="FF0000"/>
                </a:solidFill>
              </a:rPr>
              <a:t>13: Climate Action</a:t>
            </a:r>
            <a:r>
              <a:rPr lang="en-CH" sz="2000" dirty="0">
                <a:solidFill>
                  <a:srgbClr val="FF0000"/>
                </a:solidFill>
              </a:rPr>
              <a:t>}</a:t>
            </a:r>
          </a:p>
        </p:txBody>
      </p:sp>
      <p:pic>
        <p:nvPicPr>
          <p:cNvPr id="3" name="Picture 2">
            <a:extLst>
              <a:ext uri="{FF2B5EF4-FFF2-40B4-BE49-F238E27FC236}">
                <a16:creationId xmlns:a16="http://schemas.microsoft.com/office/drawing/2014/main" id="{48CF4997-210E-9294-2E3E-A2434E22C001}"/>
              </a:ext>
            </a:extLst>
          </p:cNvPr>
          <p:cNvPicPr>
            <a:picLocks noChangeAspect="1"/>
          </p:cNvPicPr>
          <p:nvPr/>
        </p:nvPicPr>
        <p:blipFill>
          <a:blip r:embed="rId3">
            <a:extLst>
              <a:ext uri="{28A0092B-C50C-407E-A947-70E740481C1C}">
                <a14:useLocalDpi xmlns:a14="http://schemas.microsoft.com/office/drawing/2010/main" val="0"/>
              </a:ext>
            </a:extLst>
          </a:blip>
          <a:srcRect l="15511" t="17793" r="16501" b="17082"/>
          <a:stretch>
            <a:fillRect/>
          </a:stretch>
        </p:blipFill>
        <p:spPr>
          <a:xfrm>
            <a:off x="1927708" y="837257"/>
            <a:ext cx="1883664" cy="1673353"/>
          </a:xfrm>
          <a:prstGeom prst="rect">
            <a:avLst/>
          </a:prstGeom>
        </p:spPr>
      </p:pic>
    </p:spTree>
    <p:extLst>
      <p:ext uri="{BB962C8B-B14F-4D97-AF65-F5344CB8AC3E}">
        <p14:creationId xmlns:p14="http://schemas.microsoft.com/office/powerpoint/2010/main" val="2023556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2</a:t>
            </a:fld>
            <a:endParaRPr lang="de-CH" noProof="0">
              <a:latin typeface="Corbel" panose="020B0503020204020204" pitchFamily="34" charset="0"/>
            </a:endParaRPr>
          </a:p>
        </p:txBody>
      </p:sp>
      <p:sp>
        <p:nvSpPr>
          <p:cNvPr id="9" name="TextBox 8">
            <a:extLst>
              <a:ext uri="{FF2B5EF4-FFF2-40B4-BE49-F238E27FC236}">
                <a16:creationId xmlns:a16="http://schemas.microsoft.com/office/drawing/2014/main" id="{F21D5782-0A23-E67C-567D-33D37096F825}"/>
              </a:ext>
            </a:extLst>
          </p:cNvPr>
          <p:cNvSpPr txBox="1"/>
          <p:nvPr/>
        </p:nvSpPr>
        <p:spPr>
          <a:xfrm>
            <a:off x="4086225" y="1354455"/>
            <a:ext cx="184731" cy="369332"/>
          </a:xfrm>
          <a:prstGeom prst="rect">
            <a:avLst/>
          </a:prstGeom>
          <a:noFill/>
        </p:spPr>
        <p:txBody>
          <a:bodyPr wrap="none" rtlCol="0">
            <a:spAutoFit/>
          </a:bodyPr>
          <a:lstStyle/>
          <a:p>
            <a:endParaRPr lang="en-CH" dirty="0"/>
          </a:p>
        </p:txBody>
      </p:sp>
      <p:sp>
        <p:nvSpPr>
          <p:cNvPr id="13" name="TextBox 12">
            <a:extLst>
              <a:ext uri="{FF2B5EF4-FFF2-40B4-BE49-F238E27FC236}">
                <a16:creationId xmlns:a16="http://schemas.microsoft.com/office/drawing/2014/main" id="{646D3AA3-1C80-0BFD-962C-29AAAE238E54}"/>
              </a:ext>
            </a:extLst>
          </p:cNvPr>
          <p:cNvSpPr txBox="1"/>
          <p:nvPr/>
        </p:nvSpPr>
        <p:spPr>
          <a:xfrm>
            <a:off x="3046095" y="2846070"/>
            <a:ext cx="184731" cy="369332"/>
          </a:xfrm>
          <a:prstGeom prst="rect">
            <a:avLst/>
          </a:prstGeom>
          <a:noFill/>
        </p:spPr>
        <p:txBody>
          <a:bodyPr wrap="none" rtlCol="0">
            <a:spAutoFit/>
          </a:bodyPr>
          <a:lstStyle/>
          <a:p>
            <a:endParaRPr lang="en-CH" dirty="0"/>
          </a:p>
        </p:txBody>
      </p:sp>
      <p:sp>
        <p:nvSpPr>
          <p:cNvPr id="17" name="TextBox 16">
            <a:extLst>
              <a:ext uri="{FF2B5EF4-FFF2-40B4-BE49-F238E27FC236}">
                <a16:creationId xmlns:a16="http://schemas.microsoft.com/office/drawing/2014/main" id="{860B65BE-28EB-4639-D1C2-67988E280650}"/>
              </a:ext>
            </a:extLst>
          </p:cNvPr>
          <p:cNvSpPr txBox="1"/>
          <p:nvPr/>
        </p:nvSpPr>
        <p:spPr>
          <a:xfrm>
            <a:off x="3046095" y="510652"/>
            <a:ext cx="5474970" cy="369332"/>
          </a:xfrm>
          <a:prstGeom prst="rect">
            <a:avLst/>
          </a:prstGeom>
          <a:noFill/>
        </p:spPr>
        <p:txBody>
          <a:bodyPr wrap="square" rtlCol="0">
            <a:spAutoFit/>
          </a:bodyPr>
          <a:lstStyle/>
          <a:p>
            <a:pPr algn="ctr"/>
            <a:r>
              <a:rPr lang="en-CH" b="1" dirty="0"/>
              <a:t>Executive Summary</a:t>
            </a:r>
          </a:p>
        </p:txBody>
      </p:sp>
      <p:sp>
        <p:nvSpPr>
          <p:cNvPr id="3" name="TextBox 2">
            <a:extLst>
              <a:ext uri="{FF2B5EF4-FFF2-40B4-BE49-F238E27FC236}">
                <a16:creationId xmlns:a16="http://schemas.microsoft.com/office/drawing/2014/main" id="{3EA688F6-6679-1C60-27D7-A3E28706AC3E}"/>
              </a:ext>
            </a:extLst>
          </p:cNvPr>
          <p:cNvSpPr txBox="1"/>
          <p:nvPr/>
        </p:nvSpPr>
        <p:spPr>
          <a:xfrm>
            <a:off x="521970" y="1038141"/>
            <a:ext cx="11148060" cy="4631461"/>
          </a:xfrm>
          <a:prstGeom prst="rect">
            <a:avLst/>
          </a:prstGeom>
          <a:noFill/>
        </p:spPr>
        <p:txBody>
          <a:bodyPr wrap="square" rtlCol="0">
            <a:spAutoFit/>
          </a:bodyPr>
          <a:lstStyle/>
          <a:p>
            <a:pPr algn="just">
              <a:lnSpc>
                <a:spcPct val="150000"/>
              </a:lnSpc>
            </a:pPr>
            <a:r>
              <a:rPr lang="en-US" sz="1100" dirty="0">
                <a:solidFill>
                  <a:srgbClr val="FF0000"/>
                </a:solidFill>
              </a:rPr>
              <a:t>Climate disasters such as floods, cyclones, and heatwaves frequently expose gaps in evacuation coordination, leading to overcrowded shelters, delayed response, and inadequate protection for vulnerable populations. Our goal is to build an intelligent, district-level disaster response system that optimizes shelter allocation in real time, ensuring safe, equitable, and efficient evacuation management aligned with SDG 13 (Climate Action).</a:t>
            </a:r>
          </a:p>
          <a:p>
            <a:pPr algn="just">
              <a:lnSpc>
                <a:spcPct val="150000"/>
              </a:lnSpc>
            </a:pPr>
            <a:endParaRPr lang="en-US" sz="1100" dirty="0">
              <a:solidFill>
                <a:srgbClr val="FF0000"/>
              </a:solidFill>
            </a:endParaRPr>
          </a:p>
          <a:p>
            <a:pPr algn="just">
              <a:lnSpc>
                <a:spcPct val="150000"/>
              </a:lnSpc>
            </a:pPr>
            <a:r>
              <a:rPr lang="en-US" sz="1100" dirty="0">
                <a:solidFill>
                  <a:srgbClr val="FF0000"/>
                </a:solidFill>
              </a:rPr>
              <a:t>Our solution integrates geospatial hazard detection, machine learning-based disaster classification, real-time shelter occupancy tracking, and a multi-objective optimization engine into a centralized decision-support platform. Using GIS analysis and a Random Forest model, the system identifies high-risk zones and dynamically maps evacuees to the most suitable shelters. A constrained allocation algorithm ensures shelters operate below critical capacity thresholds while prioritizing elderly, disabled, and medically vulnerable individuals.</a:t>
            </a:r>
          </a:p>
          <a:p>
            <a:pPr algn="just">
              <a:lnSpc>
                <a:spcPct val="150000"/>
              </a:lnSpc>
            </a:pPr>
            <a:endParaRPr lang="en-US" sz="1100" dirty="0">
              <a:solidFill>
                <a:srgbClr val="FF0000"/>
              </a:solidFill>
            </a:endParaRPr>
          </a:p>
          <a:p>
            <a:pPr algn="just">
              <a:lnSpc>
                <a:spcPct val="150000"/>
              </a:lnSpc>
            </a:pPr>
            <a:r>
              <a:rPr lang="en-US" sz="1100" dirty="0">
                <a:solidFill>
                  <a:srgbClr val="FF0000"/>
                </a:solidFill>
              </a:rPr>
              <a:t>We developed a Python-based prototype using Geo Pandas, Shapely, scikit-learn, and </a:t>
            </a:r>
            <a:r>
              <a:rPr lang="en-US" sz="1100" dirty="0" err="1">
                <a:solidFill>
                  <a:srgbClr val="FF0000"/>
                </a:solidFill>
              </a:rPr>
              <a:t>pyomo</a:t>
            </a:r>
            <a:r>
              <a:rPr lang="en-US" sz="1100" dirty="0">
                <a:solidFill>
                  <a:srgbClr val="FF0000"/>
                </a:solidFill>
              </a:rPr>
              <a:t> to simulate hazard scenarios and optimize allocation decisions. The system also features an offline-first architecture with SMS fallback, ensuring operational continuity during connectivity disruptions.</a:t>
            </a:r>
          </a:p>
          <a:p>
            <a:pPr algn="just">
              <a:lnSpc>
                <a:spcPct val="150000"/>
              </a:lnSpc>
            </a:pPr>
            <a:endParaRPr lang="en-US" sz="1100" dirty="0">
              <a:solidFill>
                <a:srgbClr val="FF0000"/>
              </a:solidFill>
            </a:endParaRPr>
          </a:p>
          <a:p>
            <a:pPr algn="just">
              <a:lnSpc>
                <a:spcPct val="150000"/>
              </a:lnSpc>
            </a:pPr>
            <a:r>
              <a:rPr lang="en-US" sz="1100" dirty="0">
                <a:solidFill>
                  <a:srgbClr val="FF0000"/>
                </a:solidFill>
              </a:rPr>
              <a:t>Our business model targets district disaster management authorities through a government-licensing or SaaS framework, with scalable deployment from pilot districts to state-level integration.</a:t>
            </a:r>
          </a:p>
          <a:p>
            <a:pPr algn="just">
              <a:lnSpc>
                <a:spcPct val="150000"/>
              </a:lnSpc>
            </a:pPr>
            <a:endParaRPr lang="en-US" sz="1100" dirty="0">
              <a:solidFill>
                <a:srgbClr val="FF0000"/>
              </a:solidFill>
            </a:endParaRPr>
          </a:p>
          <a:p>
            <a:pPr algn="just">
              <a:lnSpc>
                <a:spcPct val="150000"/>
              </a:lnSpc>
            </a:pPr>
            <a:r>
              <a:rPr lang="en-US" sz="1100" dirty="0">
                <a:solidFill>
                  <a:srgbClr val="FF0000"/>
                </a:solidFill>
              </a:rPr>
              <a:t>What makes our solution novel is the integration of hazard intelligence, predictive forecasting, and mathematically enforced vulnerable-group prioritization within a privacy-by-design framework. The prototype demonstrates measurable improvements in allocation efficiency, occupancy stability, and coordination speed—proving both technical feasibility and real-world impact.</a:t>
            </a:r>
            <a:endParaRPr lang="en-CH" sz="1100" dirty="0">
              <a:solidFill>
                <a:srgbClr val="FF0000"/>
              </a:solidFill>
            </a:endParaRPr>
          </a:p>
        </p:txBody>
      </p:sp>
    </p:spTree>
    <p:extLst>
      <p:ext uri="{BB962C8B-B14F-4D97-AF65-F5344CB8AC3E}">
        <p14:creationId xmlns:p14="http://schemas.microsoft.com/office/powerpoint/2010/main" val="2999664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3</a:t>
            </a:fld>
            <a:endParaRPr lang="de-CH" noProof="0">
              <a:latin typeface="Corbel" panose="020B0503020204020204" pitchFamily="34" charset="0"/>
            </a:endParaRPr>
          </a:p>
        </p:txBody>
      </p:sp>
      <p:sp>
        <p:nvSpPr>
          <p:cNvPr id="9" name="TextBox 8">
            <a:extLst>
              <a:ext uri="{FF2B5EF4-FFF2-40B4-BE49-F238E27FC236}">
                <a16:creationId xmlns:a16="http://schemas.microsoft.com/office/drawing/2014/main" id="{F21D5782-0A23-E67C-567D-33D37096F825}"/>
              </a:ext>
            </a:extLst>
          </p:cNvPr>
          <p:cNvSpPr txBox="1"/>
          <p:nvPr/>
        </p:nvSpPr>
        <p:spPr>
          <a:xfrm>
            <a:off x="4086225" y="1354455"/>
            <a:ext cx="184731" cy="369332"/>
          </a:xfrm>
          <a:prstGeom prst="rect">
            <a:avLst/>
          </a:prstGeom>
          <a:noFill/>
        </p:spPr>
        <p:txBody>
          <a:bodyPr wrap="none" rtlCol="0">
            <a:spAutoFit/>
          </a:bodyPr>
          <a:lstStyle/>
          <a:p>
            <a:endParaRPr lang="en-CH" dirty="0"/>
          </a:p>
        </p:txBody>
      </p:sp>
      <p:sp>
        <p:nvSpPr>
          <p:cNvPr id="13" name="TextBox 12">
            <a:extLst>
              <a:ext uri="{FF2B5EF4-FFF2-40B4-BE49-F238E27FC236}">
                <a16:creationId xmlns:a16="http://schemas.microsoft.com/office/drawing/2014/main" id="{646D3AA3-1C80-0BFD-962C-29AAAE238E54}"/>
              </a:ext>
            </a:extLst>
          </p:cNvPr>
          <p:cNvSpPr txBox="1"/>
          <p:nvPr/>
        </p:nvSpPr>
        <p:spPr>
          <a:xfrm>
            <a:off x="3046095" y="2846070"/>
            <a:ext cx="184731" cy="369332"/>
          </a:xfrm>
          <a:prstGeom prst="rect">
            <a:avLst/>
          </a:prstGeom>
          <a:noFill/>
        </p:spPr>
        <p:txBody>
          <a:bodyPr wrap="none" rtlCol="0">
            <a:spAutoFit/>
          </a:bodyPr>
          <a:lstStyle/>
          <a:p>
            <a:endParaRPr lang="en-CH" dirty="0"/>
          </a:p>
        </p:txBody>
      </p:sp>
      <p:sp>
        <p:nvSpPr>
          <p:cNvPr id="17" name="TextBox 16">
            <a:extLst>
              <a:ext uri="{FF2B5EF4-FFF2-40B4-BE49-F238E27FC236}">
                <a16:creationId xmlns:a16="http://schemas.microsoft.com/office/drawing/2014/main" id="{860B65BE-28EB-4639-D1C2-67988E280650}"/>
              </a:ext>
            </a:extLst>
          </p:cNvPr>
          <p:cNvSpPr txBox="1"/>
          <p:nvPr/>
        </p:nvSpPr>
        <p:spPr>
          <a:xfrm>
            <a:off x="2947362" y="185875"/>
            <a:ext cx="5301180" cy="369332"/>
          </a:xfrm>
          <a:prstGeom prst="rect">
            <a:avLst/>
          </a:prstGeom>
          <a:noFill/>
        </p:spPr>
        <p:txBody>
          <a:bodyPr wrap="square" rtlCol="0">
            <a:spAutoFit/>
          </a:bodyPr>
          <a:lstStyle/>
          <a:p>
            <a:pPr algn="ctr"/>
            <a:r>
              <a:rPr lang="en-CH" b="1" dirty="0"/>
              <a:t>Goal</a:t>
            </a:r>
          </a:p>
        </p:txBody>
      </p:sp>
      <p:sp>
        <p:nvSpPr>
          <p:cNvPr id="3" name="TextBox 2">
            <a:extLst>
              <a:ext uri="{FF2B5EF4-FFF2-40B4-BE49-F238E27FC236}">
                <a16:creationId xmlns:a16="http://schemas.microsoft.com/office/drawing/2014/main" id="{3EA688F6-6679-1C60-27D7-A3E28706AC3E}"/>
              </a:ext>
            </a:extLst>
          </p:cNvPr>
          <p:cNvSpPr txBox="1"/>
          <p:nvPr/>
        </p:nvSpPr>
        <p:spPr>
          <a:xfrm>
            <a:off x="521970" y="555207"/>
            <a:ext cx="11148060" cy="5901039"/>
          </a:xfrm>
          <a:prstGeom prst="rect">
            <a:avLst/>
          </a:prstGeom>
          <a:noFill/>
        </p:spPr>
        <p:txBody>
          <a:bodyPr wrap="square" rtlCol="0">
            <a:spAutoFit/>
          </a:bodyPr>
          <a:lstStyle/>
          <a:p>
            <a:pPr>
              <a:lnSpc>
                <a:spcPct val="150000"/>
              </a:lnSpc>
            </a:pPr>
            <a:r>
              <a:rPr lang="en-US" sz="1100" dirty="0">
                <a:solidFill>
                  <a:srgbClr val="FF0000"/>
                </a:solidFill>
              </a:rPr>
              <a:t>The goal of this project is to design a district-level intelligent shelter allocation system that ensures safe, equitable, and efficient evacuation during climate-related disasters such as floods, cyclones, and heatwaves.</a:t>
            </a:r>
          </a:p>
          <a:p>
            <a:pPr>
              <a:lnSpc>
                <a:spcPct val="150000"/>
              </a:lnSpc>
            </a:pPr>
            <a:r>
              <a:rPr lang="en-US" sz="1100" b="1" dirty="0">
                <a:solidFill>
                  <a:srgbClr val="FF0000"/>
                </a:solidFill>
              </a:rPr>
              <a:t>Target Users</a:t>
            </a:r>
            <a:endParaRPr lang="en-US" sz="1100" dirty="0">
              <a:solidFill>
                <a:srgbClr val="FF0000"/>
              </a:solidFill>
            </a:endParaRPr>
          </a:p>
          <a:p>
            <a:pPr>
              <a:lnSpc>
                <a:spcPct val="150000"/>
              </a:lnSpc>
            </a:pPr>
            <a:r>
              <a:rPr lang="en-US" sz="1100" dirty="0">
                <a:solidFill>
                  <a:srgbClr val="FF0000"/>
                </a:solidFill>
              </a:rPr>
              <a:t>District Disaster Management Authorities</a:t>
            </a:r>
          </a:p>
          <a:p>
            <a:pPr>
              <a:lnSpc>
                <a:spcPct val="150000"/>
              </a:lnSpc>
            </a:pPr>
            <a:r>
              <a:rPr lang="en-US" sz="1100" dirty="0">
                <a:solidFill>
                  <a:srgbClr val="FF0000"/>
                </a:solidFill>
              </a:rPr>
              <a:t>Revenue and municipal officials coordinating evacuations</a:t>
            </a:r>
          </a:p>
          <a:p>
            <a:pPr>
              <a:lnSpc>
                <a:spcPct val="150000"/>
              </a:lnSpc>
            </a:pPr>
            <a:r>
              <a:rPr lang="en-US" sz="1100" b="1" dirty="0">
                <a:solidFill>
                  <a:srgbClr val="FF0000"/>
                </a:solidFill>
              </a:rPr>
              <a:t>Situations Where This Goal Matters</a:t>
            </a:r>
            <a:endParaRPr lang="en-US" sz="1100" dirty="0">
              <a:solidFill>
                <a:srgbClr val="FF0000"/>
              </a:solidFill>
            </a:endParaRPr>
          </a:p>
          <a:p>
            <a:pPr>
              <a:lnSpc>
                <a:spcPct val="150000"/>
              </a:lnSpc>
            </a:pPr>
            <a:r>
              <a:rPr lang="en-US" sz="1100" dirty="0">
                <a:solidFill>
                  <a:srgbClr val="FF0000"/>
                </a:solidFill>
              </a:rPr>
              <a:t>During sudden floods or cyclones, evacuees are often directed to the nearest shelter without visibility into real-time capacity, leading to overcrowding, long travel times, and unsafe conditions. In heatwaves, medically vulnerable individuals may not be prioritized for cooling shelters. Communication failures during power outages further delay coordination. In such high-pressure scenarios, decisions must be fast, data-driven, and fair.</a:t>
            </a:r>
          </a:p>
          <a:p>
            <a:pPr>
              <a:lnSpc>
                <a:spcPct val="150000"/>
              </a:lnSpc>
            </a:pPr>
            <a:r>
              <a:rPr lang="en-US" sz="1100" b="1" dirty="0">
                <a:solidFill>
                  <a:srgbClr val="FF0000"/>
                </a:solidFill>
              </a:rPr>
              <a:t>Core Objective</a:t>
            </a:r>
            <a:endParaRPr lang="en-US" sz="1100" dirty="0">
              <a:solidFill>
                <a:srgbClr val="FF0000"/>
              </a:solidFill>
            </a:endParaRPr>
          </a:p>
          <a:p>
            <a:pPr>
              <a:lnSpc>
                <a:spcPct val="150000"/>
              </a:lnSpc>
            </a:pPr>
            <a:r>
              <a:rPr lang="en-US" sz="1100" dirty="0">
                <a:solidFill>
                  <a:srgbClr val="FF0000"/>
                </a:solidFill>
              </a:rPr>
              <a:t>To ensure that every evacuee is allocated to the most appropriate shelter based on distance, available capacity, facility compatibility, and vulnerability priority — while maintaining operational stability under disaster constraints.</a:t>
            </a:r>
          </a:p>
          <a:p>
            <a:pPr>
              <a:lnSpc>
                <a:spcPct val="150000"/>
              </a:lnSpc>
            </a:pPr>
            <a:r>
              <a:rPr lang="en-US" sz="1100" b="1" dirty="0">
                <a:solidFill>
                  <a:srgbClr val="FF0000"/>
                </a:solidFill>
              </a:rPr>
              <a:t>Key Constraints</a:t>
            </a:r>
            <a:endParaRPr lang="en-US" sz="1100" dirty="0">
              <a:solidFill>
                <a:srgbClr val="FF0000"/>
              </a:solidFill>
            </a:endParaRPr>
          </a:p>
          <a:p>
            <a:pPr marL="171450" indent="-171450">
              <a:lnSpc>
                <a:spcPct val="150000"/>
              </a:lnSpc>
              <a:buFont typeface="Wingdings" panose="05000000000000000000" pitchFamily="2" charset="2"/>
              <a:buChar char="v"/>
            </a:pPr>
            <a:r>
              <a:rPr lang="en-US" sz="1100" dirty="0">
                <a:solidFill>
                  <a:srgbClr val="FF0000"/>
                </a:solidFill>
              </a:rPr>
              <a:t>Limited and uneven shelter capacity</a:t>
            </a:r>
          </a:p>
          <a:p>
            <a:pPr marL="171450" indent="-171450">
              <a:lnSpc>
                <a:spcPct val="150000"/>
              </a:lnSpc>
              <a:buFont typeface="Wingdings" panose="05000000000000000000" pitchFamily="2" charset="2"/>
              <a:buChar char="v"/>
            </a:pPr>
            <a:r>
              <a:rPr lang="en-US" sz="1100" dirty="0">
                <a:solidFill>
                  <a:srgbClr val="FF0000"/>
                </a:solidFill>
              </a:rPr>
              <a:t>Infrastructure damage and road disruptions</a:t>
            </a:r>
          </a:p>
          <a:p>
            <a:pPr marL="171450" indent="-171450">
              <a:lnSpc>
                <a:spcPct val="150000"/>
              </a:lnSpc>
              <a:buFont typeface="Wingdings" panose="05000000000000000000" pitchFamily="2" charset="2"/>
              <a:buChar char="v"/>
            </a:pPr>
            <a:r>
              <a:rPr lang="en-US" sz="1100" dirty="0">
                <a:solidFill>
                  <a:srgbClr val="FF0000"/>
                </a:solidFill>
              </a:rPr>
              <a:t>Connectivity failures</a:t>
            </a:r>
          </a:p>
          <a:p>
            <a:pPr marL="171450" indent="-171450">
              <a:lnSpc>
                <a:spcPct val="150000"/>
              </a:lnSpc>
              <a:buFont typeface="Wingdings" panose="05000000000000000000" pitchFamily="2" charset="2"/>
              <a:buChar char="v"/>
            </a:pPr>
            <a:r>
              <a:rPr lang="en-US" sz="1100" dirty="0">
                <a:solidFill>
                  <a:srgbClr val="FF0000"/>
                </a:solidFill>
              </a:rPr>
              <a:t>Time-critical decision-making</a:t>
            </a:r>
          </a:p>
          <a:p>
            <a:pPr marL="171450" indent="-171450">
              <a:lnSpc>
                <a:spcPct val="150000"/>
              </a:lnSpc>
              <a:buFont typeface="Wingdings" panose="05000000000000000000" pitchFamily="2" charset="2"/>
              <a:buChar char="v"/>
            </a:pPr>
            <a:r>
              <a:rPr lang="en-US" sz="1100" dirty="0">
                <a:solidFill>
                  <a:srgbClr val="FF0000"/>
                </a:solidFill>
              </a:rPr>
              <a:t>Data privacy and security requirements</a:t>
            </a:r>
          </a:p>
          <a:p>
            <a:pPr>
              <a:lnSpc>
                <a:spcPct val="150000"/>
              </a:lnSpc>
            </a:pPr>
            <a:r>
              <a:rPr lang="en-US" sz="1100" b="1" dirty="0">
                <a:solidFill>
                  <a:srgbClr val="FF0000"/>
                </a:solidFill>
              </a:rPr>
              <a:t>Success Criteria</a:t>
            </a:r>
            <a:endParaRPr lang="en-US" sz="1100" dirty="0">
              <a:solidFill>
                <a:srgbClr val="FF0000"/>
              </a:solidFill>
            </a:endParaRPr>
          </a:p>
          <a:p>
            <a:pPr marL="171450" indent="-171450">
              <a:lnSpc>
                <a:spcPct val="150000"/>
              </a:lnSpc>
              <a:buFont typeface="Wingdings" panose="05000000000000000000" pitchFamily="2" charset="2"/>
              <a:buChar char="v"/>
            </a:pPr>
            <a:r>
              <a:rPr lang="en-US" sz="1100" dirty="0">
                <a:solidFill>
                  <a:srgbClr val="FF0000"/>
                </a:solidFill>
              </a:rPr>
              <a:t>Shelter occupancy maintained below critical thresholds (≤90%)</a:t>
            </a:r>
          </a:p>
          <a:p>
            <a:pPr marL="171450" indent="-171450">
              <a:lnSpc>
                <a:spcPct val="150000"/>
              </a:lnSpc>
              <a:buFont typeface="Wingdings" panose="05000000000000000000" pitchFamily="2" charset="2"/>
              <a:buChar char="v"/>
            </a:pPr>
            <a:r>
              <a:rPr lang="en-US" sz="1100" dirty="0">
                <a:solidFill>
                  <a:srgbClr val="FF0000"/>
                </a:solidFill>
              </a:rPr>
              <a:t>Reduced average evacuation allocation time</a:t>
            </a:r>
          </a:p>
          <a:p>
            <a:pPr marL="171450" indent="-171450">
              <a:lnSpc>
                <a:spcPct val="150000"/>
              </a:lnSpc>
              <a:buFont typeface="Wingdings" panose="05000000000000000000" pitchFamily="2" charset="2"/>
              <a:buChar char="v"/>
            </a:pPr>
            <a:r>
              <a:rPr lang="en-US" sz="1100" dirty="0">
                <a:solidFill>
                  <a:srgbClr val="FF0000"/>
                </a:solidFill>
              </a:rPr>
              <a:t>Guaranteed first-priority allocation for vulnerable groups</a:t>
            </a:r>
          </a:p>
          <a:p>
            <a:pPr marL="171450" indent="-171450">
              <a:lnSpc>
                <a:spcPct val="150000"/>
              </a:lnSpc>
              <a:buFont typeface="Wingdings" panose="05000000000000000000" pitchFamily="2" charset="2"/>
              <a:buChar char="v"/>
            </a:pPr>
            <a:r>
              <a:rPr lang="en-US" sz="1100" dirty="0">
                <a:solidFill>
                  <a:srgbClr val="FF0000"/>
                </a:solidFill>
              </a:rPr>
              <a:t>Real-time visibility of shelter status across the district</a:t>
            </a:r>
          </a:p>
        </p:txBody>
      </p:sp>
    </p:spTree>
    <p:extLst>
      <p:ext uri="{BB962C8B-B14F-4D97-AF65-F5344CB8AC3E}">
        <p14:creationId xmlns:p14="http://schemas.microsoft.com/office/powerpoint/2010/main" val="3749416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4</a:t>
            </a:fld>
            <a:endParaRPr lang="de-CH" noProof="0">
              <a:latin typeface="Corbel" panose="020B0503020204020204" pitchFamily="34" charset="0"/>
            </a:endParaRPr>
          </a:p>
        </p:txBody>
      </p:sp>
      <p:sp>
        <p:nvSpPr>
          <p:cNvPr id="9" name="TextBox 8">
            <a:extLst>
              <a:ext uri="{FF2B5EF4-FFF2-40B4-BE49-F238E27FC236}">
                <a16:creationId xmlns:a16="http://schemas.microsoft.com/office/drawing/2014/main" id="{F21D5782-0A23-E67C-567D-33D37096F825}"/>
              </a:ext>
            </a:extLst>
          </p:cNvPr>
          <p:cNvSpPr txBox="1"/>
          <p:nvPr/>
        </p:nvSpPr>
        <p:spPr>
          <a:xfrm>
            <a:off x="4086225" y="1354455"/>
            <a:ext cx="184731" cy="369332"/>
          </a:xfrm>
          <a:prstGeom prst="rect">
            <a:avLst/>
          </a:prstGeom>
          <a:noFill/>
        </p:spPr>
        <p:txBody>
          <a:bodyPr wrap="none" rtlCol="0">
            <a:spAutoFit/>
          </a:bodyPr>
          <a:lstStyle/>
          <a:p>
            <a:endParaRPr lang="en-CH" dirty="0"/>
          </a:p>
        </p:txBody>
      </p:sp>
      <p:sp>
        <p:nvSpPr>
          <p:cNvPr id="13" name="TextBox 12">
            <a:extLst>
              <a:ext uri="{FF2B5EF4-FFF2-40B4-BE49-F238E27FC236}">
                <a16:creationId xmlns:a16="http://schemas.microsoft.com/office/drawing/2014/main" id="{646D3AA3-1C80-0BFD-962C-29AAAE238E54}"/>
              </a:ext>
            </a:extLst>
          </p:cNvPr>
          <p:cNvSpPr txBox="1"/>
          <p:nvPr/>
        </p:nvSpPr>
        <p:spPr>
          <a:xfrm>
            <a:off x="3046095" y="2846070"/>
            <a:ext cx="184731" cy="369332"/>
          </a:xfrm>
          <a:prstGeom prst="rect">
            <a:avLst/>
          </a:prstGeom>
          <a:noFill/>
        </p:spPr>
        <p:txBody>
          <a:bodyPr wrap="none" rtlCol="0">
            <a:spAutoFit/>
          </a:bodyPr>
          <a:lstStyle/>
          <a:p>
            <a:endParaRPr lang="en-CH" dirty="0"/>
          </a:p>
        </p:txBody>
      </p:sp>
      <p:sp>
        <p:nvSpPr>
          <p:cNvPr id="17" name="TextBox 16">
            <a:extLst>
              <a:ext uri="{FF2B5EF4-FFF2-40B4-BE49-F238E27FC236}">
                <a16:creationId xmlns:a16="http://schemas.microsoft.com/office/drawing/2014/main" id="{860B65BE-28EB-4639-D1C2-67988E280650}"/>
              </a:ext>
            </a:extLst>
          </p:cNvPr>
          <p:cNvSpPr txBox="1"/>
          <p:nvPr/>
        </p:nvSpPr>
        <p:spPr>
          <a:xfrm>
            <a:off x="2956179" y="333713"/>
            <a:ext cx="5474970" cy="369332"/>
          </a:xfrm>
          <a:prstGeom prst="rect">
            <a:avLst/>
          </a:prstGeom>
          <a:noFill/>
        </p:spPr>
        <p:txBody>
          <a:bodyPr wrap="square" rtlCol="0">
            <a:spAutoFit/>
          </a:bodyPr>
          <a:lstStyle/>
          <a:p>
            <a:pPr algn="ctr"/>
            <a:r>
              <a:rPr lang="en-CH" b="1" dirty="0"/>
              <a:t>Idea</a:t>
            </a:r>
          </a:p>
        </p:txBody>
      </p:sp>
      <p:sp>
        <p:nvSpPr>
          <p:cNvPr id="3" name="TextBox 2">
            <a:extLst>
              <a:ext uri="{FF2B5EF4-FFF2-40B4-BE49-F238E27FC236}">
                <a16:creationId xmlns:a16="http://schemas.microsoft.com/office/drawing/2014/main" id="{3EA688F6-6679-1C60-27D7-A3E28706AC3E}"/>
              </a:ext>
            </a:extLst>
          </p:cNvPr>
          <p:cNvSpPr txBox="1"/>
          <p:nvPr/>
        </p:nvSpPr>
        <p:spPr>
          <a:xfrm>
            <a:off x="521970" y="703045"/>
            <a:ext cx="11148060" cy="5647123"/>
          </a:xfrm>
          <a:prstGeom prst="rect">
            <a:avLst/>
          </a:prstGeom>
          <a:noFill/>
        </p:spPr>
        <p:txBody>
          <a:bodyPr wrap="square" rtlCol="0">
            <a:spAutoFit/>
          </a:bodyPr>
          <a:lstStyle/>
          <a:p>
            <a:pPr>
              <a:lnSpc>
                <a:spcPct val="150000"/>
              </a:lnSpc>
            </a:pPr>
            <a:r>
              <a:rPr lang="en-US" sz="1100" dirty="0">
                <a:solidFill>
                  <a:srgbClr val="FF0000"/>
                </a:solidFill>
              </a:rPr>
              <a:t>Our solution achieves the goal of efficient, equitable, and data-driven evacuation by transforming shelter management from manual coordination into an AI-assisted optimization system operating at the district level . The system is built around four integrated components.</a:t>
            </a:r>
          </a:p>
          <a:p>
            <a:pPr>
              <a:lnSpc>
                <a:spcPct val="150000"/>
              </a:lnSpc>
            </a:pPr>
            <a:endParaRPr lang="en-US" sz="1100" dirty="0">
              <a:solidFill>
                <a:srgbClr val="FF0000"/>
              </a:solidFill>
            </a:endParaRPr>
          </a:p>
          <a:p>
            <a:pPr>
              <a:lnSpc>
                <a:spcPct val="150000"/>
              </a:lnSpc>
            </a:pPr>
            <a:r>
              <a:rPr lang="en-US" sz="1100" dirty="0">
                <a:solidFill>
                  <a:srgbClr val="FF0000"/>
                </a:solidFill>
              </a:rPr>
              <a:t>First, a </a:t>
            </a:r>
            <a:r>
              <a:rPr lang="en-US" sz="1100" b="1" dirty="0">
                <a:solidFill>
                  <a:srgbClr val="FF0000"/>
                </a:solidFill>
              </a:rPr>
              <a:t>Geospatial Hazard Intelligence Module</a:t>
            </a:r>
            <a:r>
              <a:rPr lang="en-US" sz="1100" dirty="0">
                <a:solidFill>
                  <a:srgbClr val="FF0000"/>
                </a:solidFill>
              </a:rPr>
              <a:t> analyzes meteorological indicators such as rainfall intensity, river levels, wind speed, and heat index. Using GIS-based spatial overlay and a supervised learning model (Random Forest), it classifies disaster type and severity in real time. This allows authorities to identify high-risk zones early and estimate potential evacuation demand before conditions escalate.</a:t>
            </a:r>
          </a:p>
          <a:p>
            <a:pPr>
              <a:lnSpc>
                <a:spcPct val="150000"/>
              </a:lnSpc>
            </a:pPr>
            <a:endParaRPr lang="en-US" sz="1100" dirty="0">
              <a:solidFill>
                <a:srgbClr val="FF0000"/>
              </a:solidFill>
            </a:endParaRPr>
          </a:p>
          <a:p>
            <a:pPr>
              <a:lnSpc>
                <a:spcPct val="150000"/>
              </a:lnSpc>
            </a:pPr>
            <a:r>
              <a:rPr lang="en-US" sz="1100" dirty="0">
                <a:solidFill>
                  <a:srgbClr val="FF0000"/>
                </a:solidFill>
              </a:rPr>
              <a:t>Second, a </a:t>
            </a:r>
            <a:r>
              <a:rPr lang="en-US" sz="1100" b="1" dirty="0">
                <a:solidFill>
                  <a:srgbClr val="FF0000"/>
                </a:solidFill>
              </a:rPr>
              <a:t>Real-Time Shelter Monitoring System</a:t>
            </a:r>
            <a:r>
              <a:rPr lang="en-US" sz="1100" dirty="0">
                <a:solidFill>
                  <a:srgbClr val="FF0000"/>
                </a:solidFill>
              </a:rPr>
              <a:t> tracks shelter capacity, occupancy, medical facilities, food availability, and accessibility status through structured digital check-ins. An offline-first architecture with local data caching and SMS fallback ensures continuity during network or power disruptions—critical in disaster environments.</a:t>
            </a:r>
          </a:p>
          <a:p>
            <a:pPr>
              <a:lnSpc>
                <a:spcPct val="150000"/>
              </a:lnSpc>
            </a:pPr>
            <a:endParaRPr lang="en-US" sz="1100" dirty="0">
              <a:solidFill>
                <a:srgbClr val="FF0000"/>
              </a:solidFill>
            </a:endParaRPr>
          </a:p>
          <a:p>
            <a:pPr>
              <a:lnSpc>
                <a:spcPct val="150000"/>
              </a:lnSpc>
            </a:pPr>
            <a:r>
              <a:rPr lang="en-US" sz="1100" dirty="0">
                <a:solidFill>
                  <a:srgbClr val="FF0000"/>
                </a:solidFill>
              </a:rPr>
              <a:t>Third, the core innovation lies in a </a:t>
            </a:r>
            <a:r>
              <a:rPr lang="en-US" sz="1100" b="1" dirty="0">
                <a:solidFill>
                  <a:srgbClr val="FF0000"/>
                </a:solidFill>
              </a:rPr>
              <a:t>Constrained Multi-Objective Optimization Engine</a:t>
            </a:r>
            <a:r>
              <a:rPr lang="en-US" sz="1100" dirty="0">
                <a:solidFill>
                  <a:srgbClr val="FF0000"/>
                </a:solidFill>
              </a:rPr>
              <a:t>. Unlike static dashboards, our system actively computes optimal shelter allocation using hard constraints (e.g., occupancy capped at 90%, facility compatibility requirements) and weighted criteria such as travel distance, utilization balance, and vulnerability priority. Vulnerable populations—including elderly, disabled, and medically fragile individuals—are algorithmically prioritized, ensuring fairness through mathematical enforcement rather than manual discretion.</a:t>
            </a:r>
          </a:p>
          <a:p>
            <a:pPr>
              <a:lnSpc>
                <a:spcPct val="150000"/>
              </a:lnSpc>
            </a:pPr>
            <a:endParaRPr lang="en-US" sz="1100" dirty="0">
              <a:solidFill>
                <a:srgbClr val="FF0000"/>
              </a:solidFill>
            </a:endParaRPr>
          </a:p>
          <a:p>
            <a:pPr>
              <a:lnSpc>
                <a:spcPct val="150000"/>
              </a:lnSpc>
            </a:pPr>
            <a:r>
              <a:rPr lang="en-US" sz="1100" dirty="0">
                <a:solidFill>
                  <a:srgbClr val="FF0000"/>
                </a:solidFill>
              </a:rPr>
              <a:t>Fourth, a </a:t>
            </a:r>
            <a:r>
              <a:rPr lang="en-US" sz="1100" b="1" dirty="0">
                <a:solidFill>
                  <a:srgbClr val="FF0000"/>
                </a:solidFill>
              </a:rPr>
              <a:t>Predictive Forecasting Module</a:t>
            </a:r>
            <a:r>
              <a:rPr lang="en-US" sz="1100" dirty="0">
                <a:solidFill>
                  <a:srgbClr val="FF0000"/>
                </a:solidFill>
              </a:rPr>
              <a:t> uses short-term time-series analysis to anticipate occupancy saturation. This enables proactive redistribution alerts before overcrowding occurs, shifting the system from reactive to preventive response.</a:t>
            </a:r>
          </a:p>
          <a:p>
            <a:pPr>
              <a:lnSpc>
                <a:spcPct val="150000"/>
              </a:lnSpc>
            </a:pPr>
            <a:r>
              <a:rPr lang="en-US" sz="1100" dirty="0">
                <a:solidFill>
                  <a:srgbClr val="FF0000"/>
                </a:solidFill>
              </a:rPr>
              <a:t>Feasibility is ensured through a Python-based architecture using Geo Pandas, Shapely, scikit-learn, and </a:t>
            </a:r>
            <a:r>
              <a:rPr lang="en-US" sz="1100" dirty="0" err="1">
                <a:solidFill>
                  <a:srgbClr val="FF0000"/>
                </a:solidFill>
              </a:rPr>
              <a:t>Pyomo</a:t>
            </a:r>
            <a:r>
              <a:rPr lang="en-US" sz="1100" dirty="0">
                <a:solidFill>
                  <a:srgbClr val="FF0000"/>
                </a:solidFill>
              </a:rPr>
              <a:t>—widely adopted, scalable, and cost-effective technologies. The system can integrate with existing district disaster databases and expand incrementally from pilot deployments.</a:t>
            </a:r>
          </a:p>
          <a:p>
            <a:pPr>
              <a:lnSpc>
                <a:spcPct val="150000"/>
              </a:lnSpc>
            </a:pPr>
            <a:r>
              <a:rPr lang="en-US" sz="1100" dirty="0">
                <a:solidFill>
                  <a:srgbClr val="FF0000"/>
                </a:solidFill>
              </a:rPr>
              <a:t>Our unique value proposition lies in combining hazard prediction, real-time data ingestion, optimization-based allocation, predictive overcrowding prevention, and privacy-by-design governance into a single coordinated platform. This integrated approach ensures operational resilience, measurable performance improvement, and scalable implementation across districts facing increasing climate risks.</a:t>
            </a:r>
          </a:p>
        </p:txBody>
      </p:sp>
    </p:spTree>
    <p:extLst>
      <p:ext uri="{BB962C8B-B14F-4D97-AF65-F5344CB8AC3E}">
        <p14:creationId xmlns:p14="http://schemas.microsoft.com/office/powerpoint/2010/main" val="3316001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5</a:t>
            </a:fld>
            <a:endParaRPr lang="de-CH" noProof="0">
              <a:latin typeface="Corbel" panose="020B0503020204020204" pitchFamily="34" charset="0"/>
            </a:endParaRPr>
          </a:p>
        </p:txBody>
      </p:sp>
      <p:sp>
        <p:nvSpPr>
          <p:cNvPr id="9" name="TextBox 8">
            <a:extLst>
              <a:ext uri="{FF2B5EF4-FFF2-40B4-BE49-F238E27FC236}">
                <a16:creationId xmlns:a16="http://schemas.microsoft.com/office/drawing/2014/main" id="{F21D5782-0A23-E67C-567D-33D37096F825}"/>
              </a:ext>
            </a:extLst>
          </p:cNvPr>
          <p:cNvSpPr txBox="1"/>
          <p:nvPr/>
        </p:nvSpPr>
        <p:spPr>
          <a:xfrm>
            <a:off x="4086225" y="1354455"/>
            <a:ext cx="184731" cy="369332"/>
          </a:xfrm>
          <a:prstGeom prst="rect">
            <a:avLst/>
          </a:prstGeom>
          <a:noFill/>
        </p:spPr>
        <p:txBody>
          <a:bodyPr wrap="none" rtlCol="0">
            <a:spAutoFit/>
          </a:bodyPr>
          <a:lstStyle/>
          <a:p>
            <a:endParaRPr lang="en-CH" dirty="0"/>
          </a:p>
        </p:txBody>
      </p:sp>
      <p:sp>
        <p:nvSpPr>
          <p:cNvPr id="13" name="TextBox 12">
            <a:extLst>
              <a:ext uri="{FF2B5EF4-FFF2-40B4-BE49-F238E27FC236}">
                <a16:creationId xmlns:a16="http://schemas.microsoft.com/office/drawing/2014/main" id="{646D3AA3-1C80-0BFD-962C-29AAAE238E54}"/>
              </a:ext>
            </a:extLst>
          </p:cNvPr>
          <p:cNvSpPr txBox="1"/>
          <p:nvPr/>
        </p:nvSpPr>
        <p:spPr>
          <a:xfrm>
            <a:off x="3046095" y="2846070"/>
            <a:ext cx="184731" cy="369332"/>
          </a:xfrm>
          <a:prstGeom prst="rect">
            <a:avLst/>
          </a:prstGeom>
          <a:noFill/>
        </p:spPr>
        <p:txBody>
          <a:bodyPr wrap="none" rtlCol="0">
            <a:spAutoFit/>
          </a:bodyPr>
          <a:lstStyle/>
          <a:p>
            <a:endParaRPr lang="en-CH" dirty="0"/>
          </a:p>
        </p:txBody>
      </p:sp>
      <p:sp>
        <p:nvSpPr>
          <p:cNvPr id="17" name="TextBox 16">
            <a:extLst>
              <a:ext uri="{FF2B5EF4-FFF2-40B4-BE49-F238E27FC236}">
                <a16:creationId xmlns:a16="http://schemas.microsoft.com/office/drawing/2014/main" id="{860B65BE-28EB-4639-D1C2-67988E280650}"/>
              </a:ext>
            </a:extLst>
          </p:cNvPr>
          <p:cNvSpPr txBox="1"/>
          <p:nvPr/>
        </p:nvSpPr>
        <p:spPr>
          <a:xfrm>
            <a:off x="3138460" y="210163"/>
            <a:ext cx="5474970" cy="369332"/>
          </a:xfrm>
          <a:prstGeom prst="rect">
            <a:avLst/>
          </a:prstGeom>
          <a:noFill/>
        </p:spPr>
        <p:txBody>
          <a:bodyPr wrap="square" rtlCol="0">
            <a:spAutoFit/>
          </a:bodyPr>
          <a:lstStyle/>
          <a:p>
            <a:pPr algn="ctr"/>
            <a:r>
              <a:rPr lang="en-CH" b="1" dirty="0"/>
              <a:t>Prototype or Proof-of-Concept (1/2)</a:t>
            </a:r>
          </a:p>
        </p:txBody>
      </p:sp>
      <p:sp>
        <p:nvSpPr>
          <p:cNvPr id="2" name="Rectangle: Rounded Corners 1">
            <a:extLst>
              <a:ext uri="{FF2B5EF4-FFF2-40B4-BE49-F238E27FC236}">
                <a16:creationId xmlns:a16="http://schemas.microsoft.com/office/drawing/2014/main" id="{5C79C75A-CF05-2A31-FFAF-E2872176F43D}"/>
              </a:ext>
            </a:extLst>
          </p:cNvPr>
          <p:cNvSpPr/>
          <p:nvPr/>
        </p:nvSpPr>
        <p:spPr>
          <a:xfrm>
            <a:off x="334623" y="1114367"/>
            <a:ext cx="1611303" cy="618118"/>
          </a:xfrm>
          <a:prstGeom prst="roundRect">
            <a:avLst>
              <a:gd name="adj" fmla="val 25578"/>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100" dirty="0">
              <a:solidFill>
                <a:srgbClr val="FF0000"/>
              </a:solidFill>
            </a:endParaRPr>
          </a:p>
          <a:p>
            <a:pPr algn="ctr"/>
            <a:r>
              <a:rPr lang="en-US" sz="1100" dirty="0">
                <a:solidFill>
                  <a:srgbClr val="FF0000"/>
                </a:solidFill>
              </a:rPr>
              <a:t>Hazard Detection Module</a:t>
            </a:r>
          </a:p>
          <a:p>
            <a:pPr algn="ctr"/>
            <a:endParaRPr lang="en-US" dirty="0"/>
          </a:p>
        </p:txBody>
      </p:sp>
      <p:sp>
        <p:nvSpPr>
          <p:cNvPr id="11" name="Rectangle: Single Corner Snipped 10">
            <a:extLst>
              <a:ext uri="{FF2B5EF4-FFF2-40B4-BE49-F238E27FC236}">
                <a16:creationId xmlns:a16="http://schemas.microsoft.com/office/drawing/2014/main" id="{CD3D5CCC-3B4A-3111-4DFB-8B9C80A73624}"/>
              </a:ext>
            </a:extLst>
          </p:cNvPr>
          <p:cNvSpPr/>
          <p:nvPr/>
        </p:nvSpPr>
        <p:spPr>
          <a:xfrm>
            <a:off x="2264854" y="1137556"/>
            <a:ext cx="4141090" cy="594929"/>
          </a:xfrm>
          <a:prstGeom prst="snip1Rect">
            <a:avLst/>
          </a:prstGeom>
        </p:spPr>
        <p:style>
          <a:lnRef idx="2">
            <a:schemeClr val="accent3"/>
          </a:lnRef>
          <a:fillRef idx="1">
            <a:schemeClr val="lt1"/>
          </a:fillRef>
          <a:effectRef idx="0">
            <a:schemeClr val="accent3"/>
          </a:effectRef>
          <a:fontRef idx="minor">
            <a:schemeClr val="dk1"/>
          </a:fontRef>
        </p:style>
        <p:txBody>
          <a:bodyPr rtlCol="0" anchor="ctr"/>
          <a:lstStyle/>
          <a:p>
            <a:pPr marL="171450" indent="-171450" algn="just">
              <a:buFont typeface="Wingdings" panose="05000000000000000000" pitchFamily="2" charset="2"/>
              <a:buChar char="v"/>
            </a:pPr>
            <a:r>
              <a:rPr lang="en-US" sz="1100" dirty="0">
                <a:solidFill>
                  <a:srgbClr val="FF0000"/>
                </a:solidFill>
              </a:rPr>
              <a:t> ML-based disaster type and severity classification.</a:t>
            </a:r>
          </a:p>
          <a:p>
            <a:pPr marL="171450" indent="-171450" algn="just">
              <a:buFont typeface="Wingdings" panose="05000000000000000000" pitchFamily="2" charset="2"/>
              <a:buChar char="v"/>
            </a:pPr>
            <a:r>
              <a:rPr lang="en-US" sz="1100" dirty="0">
                <a:solidFill>
                  <a:srgbClr val="FF0000"/>
                </a:solidFill>
              </a:rPr>
              <a:t>Early risk alerts using real-time meteorological data.</a:t>
            </a:r>
          </a:p>
        </p:txBody>
      </p:sp>
      <p:sp>
        <p:nvSpPr>
          <p:cNvPr id="12" name="Rectangle: Single Corner Snipped 11">
            <a:extLst>
              <a:ext uri="{FF2B5EF4-FFF2-40B4-BE49-F238E27FC236}">
                <a16:creationId xmlns:a16="http://schemas.microsoft.com/office/drawing/2014/main" id="{A2DF99E0-487B-E38A-E900-DE19DC39FAC6}"/>
              </a:ext>
            </a:extLst>
          </p:cNvPr>
          <p:cNvSpPr/>
          <p:nvPr/>
        </p:nvSpPr>
        <p:spPr>
          <a:xfrm>
            <a:off x="2264854" y="2033516"/>
            <a:ext cx="4206240" cy="561511"/>
          </a:xfrm>
          <a:prstGeom prst="snip1Rect">
            <a:avLst/>
          </a:prstGeom>
        </p:spPr>
        <p:style>
          <a:lnRef idx="2">
            <a:schemeClr val="accent3"/>
          </a:lnRef>
          <a:fillRef idx="1">
            <a:schemeClr val="lt1"/>
          </a:fillRef>
          <a:effectRef idx="0">
            <a:schemeClr val="accent3"/>
          </a:effectRef>
          <a:fontRef idx="minor">
            <a:schemeClr val="dk1"/>
          </a:fontRef>
        </p:style>
        <p:txBody>
          <a:bodyPr rtlCol="0" anchor="ctr"/>
          <a:lstStyle/>
          <a:p>
            <a:pPr marL="171450" indent="-171450" algn="just">
              <a:buFont typeface="Wingdings" panose="05000000000000000000" pitchFamily="2" charset="2"/>
              <a:buChar char="v"/>
            </a:pPr>
            <a:r>
              <a:rPr lang="en-US" sz="1100" dirty="0">
                <a:solidFill>
                  <a:srgbClr val="FF0000"/>
                </a:solidFill>
              </a:rPr>
              <a:t>GIS-based impact zone and shelter mapping.</a:t>
            </a:r>
          </a:p>
          <a:p>
            <a:pPr marL="171450" indent="-171450" algn="just">
              <a:buFont typeface="Wingdings" panose="05000000000000000000" pitchFamily="2" charset="2"/>
              <a:buChar char="v"/>
            </a:pPr>
            <a:r>
              <a:rPr lang="en-US" sz="1100" dirty="0">
                <a:solidFill>
                  <a:srgbClr val="FF0000"/>
                </a:solidFill>
              </a:rPr>
              <a:t>Optimal route calculation for safe evacuation.</a:t>
            </a:r>
          </a:p>
        </p:txBody>
      </p:sp>
      <p:sp>
        <p:nvSpPr>
          <p:cNvPr id="14" name="Rectangle: Single Corner Snipped 13">
            <a:extLst>
              <a:ext uri="{FF2B5EF4-FFF2-40B4-BE49-F238E27FC236}">
                <a16:creationId xmlns:a16="http://schemas.microsoft.com/office/drawing/2014/main" id="{81802640-5C39-F647-44F5-676AB48B880A}"/>
              </a:ext>
            </a:extLst>
          </p:cNvPr>
          <p:cNvSpPr/>
          <p:nvPr/>
        </p:nvSpPr>
        <p:spPr>
          <a:xfrm>
            <a:off x="2264854" y="2896078"/>
            <a:ext cx="4206240" cy="561511"/>
          </a:xfrm>
          <a:prstGeom prst="snip1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marL="171450" indent="-171450" algn="just">
              <a:buFont typeface="Wingdings" panose="05000000000000000000" pitchFamily="2" charset="2"/>
              <a:buChar char="v"/>
            </a:pPr>
            <a:r>
              <a:rPr lang="en-US" sz="1100" dirty="0">
                <a:solidFill>
                  <a:srgbClr val="FF0000"/>
                </a:solidFill>
              </a:rPr>
              <a:t>Constrained optimization(&lt;=90% Capacity rule).</a:t>
            </a:r>
          </a:p>
          <a:p>
            <a:pPr marL="171450" indent="-171450" algn="just">
              <a:buFont typeface="Wingdings" panose="05000000000000000000" pitchFamily="2" charset="2"/>
              <a:buChar char="v"/>
            </a:pPr>
            <a:r>
              <a:rPr lang="en-US" sz="1100" dirty="0">
                <a:solidFill>
                  <a:srgbClr val="FF0000"/>
                </a:solidFill>
              </a:rPr>
              <a:t>Vulnerable-priority, distance-aware allocation.</a:t>
            </a:r>
          </a:p>
        </p:txBody>
      </p:sp>
      <p:sp>
        <p:nvSpPr>
          <p:cNvPr id="15" name="Rectangle: Single Corner Snipped 14">
            <a:extLst>
              <a:ext uri="{FF2B5EF4-FFF2-40B4-BE49-F238E27FC236}">
                <a16:creationId xmlns:a16="http://schemas.microsoft.com/office/drawing/2014/main" id="{861CE682-A855-EEE8-F1EA-F4E013B93AF4}"/>
              </a:ext>
            </a:extLst>
          </p:cNvPr>
          <p:cNvSpPr/>
          <p:nvPr/>
        </p:nvSpPr>
        <p:spPr>
          <a:xfrm>
            <a:off x="2264854" y="3758640"/>
            <a:ext cx="4206240" cy="561512"/>
          </a:xfrm>
          <a:prstGeom prst="snip1Rect">
            <a:avLst/>
          </a:prstGeom>
        </p:spPr>
        <p:style>
          <a:lnRef idx="2">
            <a:schemeClr val="accent3"/>
          </a:lnRef>
          <a:fillRef idx="1">
            <a:schemeClr val="lt1"/>
          </a:fillRef>
          <a:effectRef idx="0">
            <a:schemeClr val="accent3"/>
          </a:effectRef>
          <a:fontRef idx="minor">
            <a:schemeClr val="dk1"/>
          </a:fontRef>
        </p:style>
        <p:txBody>
          <a:bodyPr rtlCol="0" anchor="ctr"/>
          <a:lstStyle/>
          <a:p>
            <a:pPr marL="171450" indent="-171450" algn="just">
              <a:buFont typeface="Wingdings" panose="05000000000000000000" pitchFamily="2" charset="2"/>
              <a:buChar char="v"/>
            </a:pPr>
            <a:r>
              <a:rPr lang="en-US" sz="1100" dirty="0">
                <a:solidFill>
                  <a:srgbClr val="FF0000"/>
                </a:solidFill>
              </a:rPr>
              <a:t>Short-term occupancy prediction.</a:t>
            </a:r>
          </a:p>
          <a:p>
            <a:pPr marL="171450" indent="-171450" algn="just">
              <a:buFont typeface="Wingdings" panose="05000000000000000000" pitchFamily="2" charset="2"/>
              <a:buChar char="v"/>
            </a:pPr>
            <a:r>
              <a:rPr lang="en-US" sz="1100" dirty="0">
                <a:solidFill>
                  <a:srgbClr val="FF0000"/>
                </a:solidFill>
              </a:rPr>
              <a:t>Pre-emptive saturation alerts.</a:t>
            </a:r>
          </a:p>
        </p:txBody>
      </p:sp>
      <p:sp>
        <p:nvSpPr>
          <p:cNvPr id="16" name="Rectangle: Rounded Corners 15">
            <a:extLst>
              <a:ext uri="{FF2B5EF4-FFF2-40B4-BE49-F238E27FC236}">
                <a16:creationId xmlns:a16="http://schemas.microsoft.com/office/drawing/2014/main" id="{A939EDAB-51F4-13D1-AC83-E8CA73091ECE}"/>
              </a:ext>
            </a:extLst>
          </p:cNvPr>
          <p:cNvSpPr/>
          <p:nvPr/>
        </p:nvSpPr>
        <p:spPr>
          <a:xfrm>
            <a:off x="334624" y="2056619"/>
            <a:ext cx="1611303" cy="561511"/>
          </a:xfrm>
          <a:prstGeom prst="roundRect">
            <a:avLst>
              <a:gd name="adj" fmla="val 23180"/>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100" dirty="0">
              <a:solidFill>
                <a:srgbClr val="FF0000"/>
              </a:solidFill>
            </a:endParaRPr>
          </a:p>
          <a:p>
            <a:pPr algn="ctr"/>
            <a:r>
              <a:rPr lang="en-US" sz="1100" dirty="0">
                <a:solidFill>
                  <a:srgbClr val="FF0000"/>
                </a:solidFill>
              </a:rPr>
              <a:t>Geospatial Mapping Layer</a:t>
            </a:r>
          </a:p>
          <a:p>
            <a:pPr algn="ctr"/>
            <a:endParaRPr lang="en-US" dirty="0"/>
          </a:p>
        </p:txBody>
      </p:sp>
      <p:sp>
        <p:nvSpPr>
          <p:cNvPr id="18" name="Rectangle: Rounded Corners 17">
            <a:extLst>
              <a:ext uri="{FF2B5EF4-FFF2-40B4-BE49-F238E27FC236}">
                <a16:creationId xmlns:a16="http://schemas.microsoft.com/office/drawing/2014/main" id="{E7029C4F-B336-9F8C-129D-6F111A6B3A16}"/>
              </a:ext>
            </a:extLst>
          </p:cNvPr>
          <p:cNvSpPr/>
          <p:nvPr/>
        </p:nvSpPr>
        <p:spPr>
          <a:xfrm>
            <a:off x="334624" y="2882862"/>
            <a:ext cx="1611303" cy="561511"/>
          </a:xfrm>
          <a:prstGeom prst="roundRect">
            <a:avLst>
              <a:gd name="adj" fmla="val 29013"/>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100" dirty="0">
              <a:solidFill>
                <a:srgbClr val="FF0000"/>
              </a:solidFill>
            </a:endParaRPr>
          </a:p>
          <a:p>
            <a:pPr algn="ctr"/>
            <a:r>
              <a:rPr lang="en-US" sz="1100" dirty="0">
                <a:solidFill>
                  <a:srgbClr val="FF0000"/>
                </a:solidFill>
              </a:rPr>
              <a:t>Real-Time Shelter Allocation Engine</a:t>
            </a:r>
          </a:p>
          <a:p>
            <a:pPr algn="ctr"/>
            <a:endParaRPr lang="en-US" dirty="0"/>
          </a:p>
        </p:txBody>
      </p:sp>
      <p:sp>
        <p:nvSpPr>
          <p:cNvPr id="19" name="Rectangle: Rounded Corners 18">
            <a:extLst>
              <a:ext uri="{FF2B5EF4-FFF2-40B4-BE49-F238E27FC236}">
                <a16:creationId xmlns:a16="http://schemas.microsoft.com/office/drawing/2014/main" id="{3FE66E4E-4B30-41F3-9750-E57D11DE987A}"/>
              </a:ext>
            </a:extLst>
          </p:cNvPr>
          <p:cNvSpPr/>
          <p:nvPr/>
        </p:nvSpPr>
        <p:spPr>
          <a:xfrm>
            <a:off x="334624" y="3770234"/>
            <a:ext cx="1611303" cy="561511"/>
          </a:xfrm>
          <a:prstGeom prst="roundRect">
            <a:avLst>
              <a:gd name="adj" fmla="val 33128"/>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100" dirty="0">
              <a:solidFill>
                <a:srgbClr val="FF0000"/>
              </a:solidFill>
            </a:endParaRPr>
          </a:p>
          <a:p>
            <a:pPr algn="ctr"/>
            <a:endParaRPr lang="en-US" sz="1100" dirty="0">
              <a:solidFill>
                <a:srgbClr val="FF0000"/>
              </a:solidFill>
            </a:endParaRPr>
          </a:p>
          <a:p>
            <a:pPr algn="ctr"/>
            <a:r>
              <a:rPr lang="en-US" sz="1100" dirty="0">
                <a:solidFill>
                  <a:srgbClr val="FF0000"/>
                </a:solidFill>
              </a:rPr>
              <a:t>Predictive Overcrowding Forecast</a:t>
            </a:r>
          </a:p>
          <a:p>
            <a:pPr algn="ctr"/>
            <a:endParaRPr lang="en-US" dirty="0"/>
          </a:p>
        </p:txBody>
      </p:sp>
      <p:sp>
        <p:nvSpPr>
          <p:cNvPr id="31" name="Oval 30">
            <a:extLst>
              <a:ext uri="{FF2B5EF4-FFF2-40B4-BE49-F238E27FC236}">
                <a16:creationId xmlns:a16="http://schemas.microsoft.com/office/drawing/2014/main" id="{CF28F8D3-01A4-03E9-67E1-C55BFF856BDE}"/>
              </a:ext>
            </a:extLst>
          </p:cNvPr>
          <p:cNvSpPr/>
          <p:nvPr/>
        </p:nvSpPr>
        <p:spPr>
          <a:xfrm>
            <a:off x="7252335" y="545354"/>
            <a:ext cx="4206240" cy="267004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r>
              <a:rPr lang="en-US" b="1" dirty="0">
                <a:solidFill>
                  <a:srgbClr val="FF0000"/>
                </a:solidFill>
              </a:rPr>
              <a:t>Novelty</a:t>
            </a:r>
          </a:p>
          <a:p>
            <a:pPr marL="171450" indent="-171450">
              <a:buFont typeface="Arial" panose="020B0604020202020204" pitchFamily="34" charset="0"/>
              <a:buChar char="•"/>
            </a:pPr>
            <a:r>
              <a:rPr lang="en-US" sz="1100" dirty="0">
                <a:solidFill>
                  <a:srgbClr val="FF0000"/>
                </a:solidFill>
              </a:rPr>
              <a:t>Integrates hazard prediction, real-time shelter tracking, optimization-based allocation, and forecasting into one unified district-level platform.</a:t>
            </a:r>
          </a:p>
          <a:p>
            <a:pPr marL="171450" indent="-171450">
              <a:buFont typeface="Arial" panose="020B0604020202020204" pitchFamily="34" charset="0"/>
              <a:buChar char="•"/>
            </a:pPr>
            <a:r>
              <a:rPr lang="en-US" sz="1100" dirty="0">
                <a:solidFill>
                  <a:srgbClr val="FF0000"/>
                </a:solidFill>
              </a:rPr>
              <a:t>Enforces vulnerable-group prioritization mathematically through constrained optimization, not manual decision-making.</a:t>
            </a:r>
          </a:p>
          <a:p>
            <a:pPr algn="ctr"/>
            <a:endParaRPr lang="en-US" dirty="0"/>
          </a:p>
        </p:txBody>
      </p:sp>
      <p:sp>
        <p:nvSpPr>
          <p:cNvPr id="32" name="Oval 31">
            <a:extLst>
              <a:ext uri="{FF2B5EF4-FFF2-40B4-BE49-F238E27FC236}">
                <a16:creationId xmlns:a16="http://schemas.microsoft.com/office/drawing/2014/main" id="{7AD3688B-64A0-B0F1-B65D-FAAF339D05DD}"/>
              </a:ext>
            </a:extLst>
          </p:cNvPr>
          <p:cNvSpPr/>
          <p:nvPr/>
        </p:nvSpPr>
        <p:spPr>
          <a:xfrm>
            <a:off x="7289544" y="3695808"/>
            <a:ext cx="4315969" cy="271527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r>
              <a:rPr lang="en-US" b="1" dirty="0">
                <a:solidFill>
                  <a:srgbClr val="FF0000"/>
                </a:solidFill>
              </a:rPr>
              <a:t>Feasibility</a:t>
            </a:r>
          </a:p>
          <a:p>
            <a:pPr marL="171450" indent="-171450">
              <a:buFont typeface="Arial" panose="020B0604020202020204" pitchFamily="34" charset="0"/>
              <a:buChar char="•"/>
            </a:pPr>
            <a:r>
              <a:rPr lang="en-US" sz="1100" dirty="0">
                <a:solidFill>
                  <a:srgbClr val="FF0000"/>
                </a:solidFill>
              </a:rPr>
              <a:t>Built using proven, scalable Python technologies (Geo Pandas, scikit-learn).</a:t>
            </a:r>
          </a:p>
          <a:p>
            <a:pPr marL="171450" indent="-171450">
              <a:buFont typeface="Arial" panose="020B0604020202020204" pitchFamily="34" charset="0"/>
              <a:buChar char="•"/>
            </a:pPr>
            <a:r>
              <a:rPr lang="en-US" sz="1100" dirty="0">
                <a:solidFill>
                  <a:srgbClr val="FF0000"/>
                </a:solidFill>
              </a:rPr>
              <a:t>Compatible with existing district disaster management databases and workflows.</a:t>
            </a:r>
          </a:p>
          <a:p>
            <a:pPr marL="171450" indent="-171450">
              <a:buFont typeface="Arial" panose="020B0604020202020204" pitchFamily="34" charset="0"/>
              <a:buChar char="•"/>
            </a:pPr>
            <a:r>
              <a:rPr lang="en-US" sz="1100" dirty="0">
                <a:solidFill>
                  <a:srgbClr val="FF0000"/>
                </a:solidFill>
              </a:rPr>
              <a:t>Modular architecture allows phased pilot deployment and gradual scaling.</a:t>
            </a:r>
          </a:p>
          <a:p>
            <a:pPr algn="ctr"/>
            <a:endParaRPr lang="en-US" dirty="0"/>
          </a:p>
        </p:txBody>
      </p:sp>
      <p:sp>
        <p:nvSpPr>
          <p:cNvPr id="33" name="TextBox 32">
            <a:extLst>
              <a:ext uri="{FF2B5EF4-FFF2-40B4-BE49-F238E27FC236}">
                <a16:creationId xmlns:a16="http://schemas.microsoft.com/office/drawing/2014/main" id="{5430EBB3-88AE-39CF-9215-5835973F4CB1}"/>
              </a:ext>
            </a:extLst>
          </p:cNvPr>
          <p:cNvSpPr txBox="1"/>
          <p:nvPr/>
        </p:nvSpPr>
        <p:spPr>
          <a:xfrm>
            <a:off x="334624" y="4762543"/>
            <a:ext cx="6001026" cy="938719"/>
          </a:xfrm>
          <a:prstGeom prst="rect">
            <a:avLst/>
          </a:prstGeom>
          <a:noFill/>
        </p:spPr>
        <p:txBody>
          <a:bodyPr wrap="square" rtlCol="0">
            <a:spAutoFit/>
          </a:bodyPr>
          <a:lstStyle/>
          <a:p>
            <a:pPr algn="just"/>
            <a:r>
              <a:rPr lang="en-US" sz="1100" dirty="0">
                <a:solidFill>
                  <a:srgbClr val="FF0000"/>
                </a:solidFill>
              </a:rPr>
              <a:t>We developed a Python-based simulation prototype integrating hazard classification, GIS routing, and constrained multi-objective optimization for shelter allocation. The system processes simulated disaster and occupancy data to generate optimal, vulnerability-aware shelter assignments. Results demonstrate improved allocation balance, reduced overcrowding risk, and faster decision response.</a:t>
            </a:r>
            <a:endParaRPr lang="en-CH" sz="1100" dirty="0">
              <a:solidFill>
                <a:srgbClr val="FF0000"/>
              </a:solidFill>
            </a:endParaRPr>
          </a:p>
        </p:txBody>
      </p:sp>
    </p:spTree>
    <p:extLst>
      <p:ext uri="{BB962C8B-B14F-4D97-AF65-F5344CB8AC3E}">
        <p14:creationId xmlns:p14="http://schemas.microsoft.com/office/powerpoint/2010/main" val="2120991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6</a:t>
            </a:fld>
            <a:endParaRPr lang="de-CH" noProof="0">
              <a:latin typeface="Corbel" panose="020B0503020204020204" pitchFamily="34" charset="0"/>
            </a:endParaRPr>
          </a:p>
        </p:txBody>
      </p:sp>
      <p:sp>
        <p:nvSpPr>
          <p:cNvPr id="9" name="TextBox 8">
            <a:extLst>
              <a:ext uri="{FF2B5EF4-FFF2-40B4-BE49-F238E27FC236}">
                <a16:creationId xmlns:a16="http://schemas.microsoft.com/office/drawing/2014/main" id="{F21D5782-0A23-E67C-567D-33D37096F825}"/>
              </a:ext>
            </a:extLst>
          </p:cNvPr>
          <p:cNvSpPr txBox="1"/>
          <p:nvPr/>
        </p:nvSpPr>
        <p:spPr>
          <a:xfrm>
            <a:off x="4086225" y="1354455"/>
            <a:ext cx="184731" cy="369332"/>
          </a:xfrm>
          <a:prstGeom prst="rect">
            <a:avLst/>
          </a:prstGeom>
          <a:noFill/>
        </p:spPr>
        <p:txBody>
          <a:bodyPr wrap="none" rtlCol="0">
            <a:spAutoFit/>
          </a:bodyPr>
          <a:lstStyle/>
          <a:p>
            <a:endParaRPr lang="en-CH" dirty="0"/>
          </a:p>
        </p:txBody>
      </p:sp>
      <p:sp>
        <p:nvSpPr>
          <p:cNvPr id="13" name="TextBox 12">
            <a:extLst>
              <a:ext uri="{FF2B5EF4-FFF2-40B4-BE49-F238E27FC236}">
                <a16:creationId xmlns:a16="http://schemas.microsoft.com/office/drawing/2014/main" id="{646D3AA3-1C80-0BFD-962C-29AAAE238E54}"/>
              </a:ext>
            </a:extLst>
          </p:cNvPr>
          <p:cNvSpPr txBox="1"/>
          <p:nvPr/>
        </p:nvSpPr>
        <p:spPr>
          <a:xfrm>
            <a:off x="3046095" y="2846070"/>
            <a:ext cx="184731" cy="369332"/>
          </a:xfrm>
          <a:prstGeom prst="rect">
            <a:avLst/>
          </a:prstGeom>
          <a:noFill/>
        </p:spPr>
        <p:txBody>
          <a:bodyPr wrap="none" rtlCol="0">
            <a:spAutoFit/>
          </a:bodyPr>
          <a:lstStyle/>
          <a:p>
            <a:endParaRPr lang="en-CH" dirty="0"/>
          </a:p>
        </p:txBody>
      </p:sp>
      <p:sp>
        <p:nvSpPr>
          <p:cNvPr id="17" name="TextBox 16">
            <a:extLst>
              <a:ext uri="{FF2B5EF4-FFF2-40B4-BE49-F238E27FC236}">
                <a16:creationId xmlns:a16="http://schemas.microsoft.com/office/drawing/2014/main" id="{860B65BE-28EB-4639-D1C2-67988E280650}"/>
              </a:ext>
            </a:extLst>
          </p:cNvPr>
          <p:cNvSpPr txBox="1"/>
          <p:nvPr/>
        </p:nvSpPr>
        <p:spPr>
          <a:xfrm>
            <a:off x="3358515" y="257621"/>
            <a:ext cx="5474970" cy="369332"/>
          </a:xfrm>
          <a:prstGeom prst="rect">
            <a:avLst/>
          </a:prstGeom>
          <a:noFill/>
        </p:spPr>
        <p:txBody>
          <a:bodyPr wrap="square" rtlCol="0">
            <a:spAutoFit/>
          </a:bodyPr>
          <a:lstStyle/>
          <a:p>
            <a:pPr algn="ctr"/>
            <a:r>
              <a:rPr lang="en-CH" b="1" dirty="0"/>
              <a:t>Prototype or Proof-of-Concept (2/2)</a:t>
            </a:r>
          </a:p>
        </p:txBody>
      </p:sp>
      <p:pic>
        <p:nvPicPr>
          <p:cNvPr id="24" name="Picture 23">
            <a:extLst>
              <a:ext uri="{FF2B5EF4-FFF2-40B4-BE49-F238E27FC236}">
                <a16:creationId xmlns:a16="http://schemas.microsoft.com/office/drawing/2014/main" id="{A55BEB9A-BB3A-E115-0984-5DA66C32D0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530" y="841248"/>
            <a:ext cx="10753343" cy="5321809"/>
          </a:xfrm>
          <a:prstGeom prst="rect">
            <a:avLst/>
          </a:prstGeom>
        </p:spPr>
      </p:pic>
    </p:spTree>
    <p:extLst>
      <p:ext uri="{BB962C8B-B14F-4D97-AF65-F5344CB8AC3E}">
        <p14:creationId xmlns:p14="http://schemas.microsoft.com/office/powerpoint/2010/main" val="1585827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7</a:t>
            </a:fld>
            <a:endParaRPr lang="de-CH" noProof="0">
              <a:latin typeface="Corbel" panose="020B0503020204020204" pitchFamily="34" charset="0"/>
            </a:endParaRPr>
          </a:p>
        </p:txBody>
      </p:sp>
      <p:sp>
        <p:nvSpPr>
          <p:cNvPr id="9" name="TextBox 8">
            <a:extLst>
              <a:ext uri="{FF2B5EF4-FFF2-40B4-BE49-F238E27FC236}">
                <a16:creationId xmlns:a16="http://schemas.microsoft.com/office/drawing/2014/main" id="{F21D5782-0A23-E67C-567D-33D37096F825}"/>
              </a:ext>
            </a:extLst>
          </p:cNvPr>
          <p:cNvSpPr txBox="1"/>
          <p:nvPr/>
        </p:nvSpPr>
        <p:spPr>
          <a:xfrm>
            <a:off x="4086225" y="1354455"/>
            <a:ext cx="184731" cy="369332"/>
          </a:xfrm>
          <a:prstGeom prst="rect">
            <a:avLst/>
          </a:prstGeom>
          <a:noFill/>
        </p:spPr>
        <p:txBody>
          <a:bodyPr wrap="none" rtlCol="0">
            <a:spAutoFit/>
          </a:bodyPr>
          <a:lstStyle/>
          <a:p>
            <a:endParaRPr lang="en-CH" dirty="0"/>
          </a:p>
        </p:txBody>
      </p:sp>
      <p:sp>
        <p:nvSpPr>
          <p:cNvPr id="13" name="TextBox 12">
            <a:extLst>
              <a:ext uri="{FF2B5EF4-FFF2-40B4-BE49-F238E27FC236}">
                <a16:creationId xmlns:a16="http://schemas.microsoft.com/office/drawing/2014/main" id="{646D3AA3-1C80-0BFD-962C-29AAAE238E54}"/>
              </a:ext>
            </a:extLst>
          </p:cNvPr>
          <p:cNvSpPr txBox="1"/>
          <p:nvPr/>
        </p:nvSpPr>
        <p:spPr>
          <a:xfrm>
            <a:off x="3046095" y="2846070"/>
            <a:ext cx="184731" cy="369332"/>
          </a:xfrm>
          <a:prstGeom prst="rect">
            <a:avLst/>
          </a:prstGeom>
          <a:noFill/>
        </p:spPr>
        <p:txBody>
          <a:bodyPr wrap="none" rtlCol="0">
            <a:spAutoFit/>
          </a:bodyPr>
          <a:lstStyle/>
          <a:p>
            <a:endParaRPr lang="en-CH" dirty="0"/>
          </a:p>
        </p:txBody>
      </p:sp>
      <p:sp>
        <p:nvSpPr>
          <p:cNvPr id="17" name="TextBox 16">
            <a:extLst>
              <a:ext uri="{FF2B5EF4-FFF2-40B4-BE49-F238E27FC236}">
                <a16:creationId xmlns:a16="http://schemas.microsoft.com/office/drawing/2014/main" id="{860B65BE-28EB-4639-D1C2-67988E280650}"/>
              </a:ext>
            </a:extLst>
          </p:cNvPr>
          <p:cNvSpPr txBox="1"/>
          <p:nvPr/>
        </p:nvSpPr>
        <p:spPr>
          <a:xfrm>
            <a:off x="2899791" y="387340"/>
            <a:ext cx="5474970" cy="369332"/>
          </a:xfrm>
          <a:prstGeom prst="rect">
            <a:avLst/>
          </a:prstGeom>
          <a:noFill/>
        </p:spPr>
        <p:txBody>
          <a:bodyPr wrap="square" rtlCol="0">
            <a:spAutoFit/>
          </a:bodyPr>
          <a:lstStyle/>
          <a:p>
            <a:pPr algn="ctr"/>
            <a:r>
              <a:rPr lang="en-CH" b="1" dirty="0"/>
              <a:t>Market Needs &amp; Business Plan</a:t>
            </a:r>
          </a:p>
        </p:txBody>
      </p:sp>
      <p:sp>
        <p:nvSpPr>
          <p:cNvPr id="3" name="TextBox 2">
            <a:extLst>
              <a:ext uri="{FF2B5EF4-FFF2-40B4-BE49-F238E27FC236}">
                <a16:creationId xmlns:a16="http://schemas.microsoft.com/office/drawing/2014/main" id="{3EA688F6-6679-1C60-27D7-A3E28706AC3E}"/>
              </a:ext>
            </a:extLst>
          </p:cNvPr>
          <p:cNvSpPr txBox="1"/>
          <p:nvPr/>
        </p:nvSpPr>
        <p:spPr>
          <a:xfrm>
            <a:off x="411480" y="876836"/>
            <a:ext cx="6598158" cy="5339923"/>
          </a:xfrm>
          <a:prstGeom prst="rect">
            <a:avLst/>
          </a:prstGeom>
          <a:noFill/>
        </p:spPr>
        <p:txBody>
          <a:bodyPr wrap="square" rtlCol="0">
            <a:spAutoFit/>
          </a:bodyPr>
          <a:lstStyle/>
          <a:p>
            <a:pPr>
              <a:lnSpc>
                <a:spcPct val="150000"/>
              </a:lnSpc>
            </a:pPr>
            <a:r>
              <a:rPr lang="en-US" sz="1100" b="1" dirty="0">
                <a:solidFill>
                  <a:srgbClr val="FF0000"/>
                </a:solidFill>
              </a:rPr>
              <a:t>Market Need:</a:t>
            </a:r>
            <a:br>
              <a:rPr lang="en-US" sz="1100" dirty="0">
                <a:solidFill>
                  <a:srgbClr val="FF0000"/>
                </a:solidFill>
              </a:rPr>
            </a:br>
            <a:r>
              <a:rPr lang="en-US" sz="1100" dirty="0">
                <a:solidFill>
                  <a:srgbClr val="FF0000"/>
                </a:solidFill>
              </a:rPr>
              <a:t>District authorities face increasing climate disasters with limited real-time coordination tools. Current evacuation systems are manual, fragmented, and reactive, leading to overcrowded shelters, delayed allocation, and poor visibility of vulnerable populations.</a:t>
            </a:r>
          </a:p>
          <a:p>
            <a:pPr>
              <a:lnSpc>
                <a:spcPct val="150000"/>
              </a:lnSpc>
            </a:pPr>
            <a:endParaRPr lang="en-US" sz="1100" dirty="0">
              <a:solidFill>
                <a:srgbClr val="FF0000"/>
              </a:solidFill>
            </a:endParaRPr>
          </a:p>
          <a:p>
            <a:pPr>
              <a:lnSpc>
                <a:spcPct val="150000"/>
              </a:lnSpc>
            </a:pPr>
            <a:r>
              <a:rPr lang="en-US" sz="1100" b="1" dirty="0">
                <a:solidFill>
                  <a:srgbClr val="FF0000"/>
                </a:solidFill>
              </a:rPr>
              <a:t>Our Solution Fit:</a:t>
            </a:r>
            <a:br>
              <a:rPr lang="en-US" sz="1100" dirty="0">
                <a:solidFill>
                  <a:srgbClr val="FF0000"/>
                </a:solidFill>
              </a:rPr>
            </a:br>
            <a:r>
              <a:rPr lang="en-US" sz="1100" dirty="0">
                <a:solidFill>
                  <a:srgbClr val="FF0000"/>
                </a:solidFill>
              </a:rPr>
              <a:t>An AI-driven, district-level evacuation optimization platform that enables real-time shelter tracking, predictive overcrowding alerts, and vulnerability-prioritized allocation.</a:t>
            </a:r>
          </a:p>
          <a:p>
            <a:pPr>
              <a:lnSpc>
                <a:spcPct val="150000"/>
              </a:lnSpc>
            </a:pPr>
            <a:endParaRPr lang="en-US" sz="1100" dirty="0">
              <a:solidFill>
                <a:srgbClr val="FF0000"/>
              </a:solidFill>
            </a:endParaRPr>
          </a:p>
          <a:p>
            <a:pPr>
              <a:lnSpc>
                <a:spcPct val="150000"/>
              </a:lnSpc>
            </a:pPr>
            <a:r>
              <a:rPr lang="en-US" sz="1100" b="1" dirty="0">
                <a:solidFill>
                  <a:srgbClr val="FF0000"/>
                </a:solidFill>
              </a:rPr>
              <a:t>Business Model:</a:t>
            </a:r>
            <a:br>
              <a:rPr lang="en-US" sz="1100" dirty="0">
                <a:solidFill>
                  <a:srgbClr val="FF0000"/>
                </a:solidFill>
              </a:rPr>
            </a:br>
            <a:r>
              <a:rPr lang="en-US" sz="1100" dirty="0">
                <a:solidFill>
                  <a:srgbClr val="FF0000"/>
                </a:solidFill>
              </a:rPr>
              <a:t>Government-focused SaaS subscription model with annual district licensing, customization, and maintenance support contracts.</a:t>
            </a:r>
          </a:p>
          <a:p>
            <a:pPr>
              <a:lnSpc>
                <a:spcPct val="150000"/>
              </a:lnSpc>
            </a:pPr>
            <a:endParaRPr lang="en-US" sz="1100" dirty="0">
              <a:solidFill>
                <a:srgbClr val="FF0000"/>
              </a:solidFill>
            </a:endParaRPr>
          </a:p>
          <a:p>
            <a:pPr>
              <a:lnSpc>
                <a:spcPct val="150000"/>
              </a:lnSpc>
            </a:pPr>
            <a:r>
              <a:rPr lang="en-US" sz="1100" b="1" dirty="0">
                <a:solidFill>
                  <a:srgbClr val="FF0000"/>
                </a:solidFill>
              </a:rPr>
              <a:t>Feasibility &amp; Scalability:</a:t>
            </a:r>
            <a:br>
              <a:rPr lang="en-US" sz="1100" dirty="0">
                <a:solidFill>
                  <a:srgbClr val="FF0000"/>
                </a:solidFill>
              </a:rPr>
            </a:br>
            <a:r>
              <a:rPr lang="en-US" sz="1100" dirty="0">
                <a:solidFill>
                  <a:srgbClr val="FF0000"/>
                </a:solidFill>
              </a:rPr>
              <a:t>Cloud-based architecture, low hardware requirements (mobile check-ins), and modular integration ensure cost-effective scaling across districts.</a:t>
            </a:r>
          </a:p>
          <a:p>
            <a:pPr>
              <a:lnSpc>
                <a:spcPct val="150000"/>
              </a:lnSpc>
            </a:pPr>
            <a:endParaRPr lang="en-US" sz="1100" dirty="0">
              <a:solidFill>
                <a:srgbClr val="FF0000"/>
              </a:solidFill>
            </a:endParaRPr>
          </a:p>
          <a:p>
            <a:pPr>
              <a:lnSpc>
                <a:spcPct val="150000"/>
              </a:lnSpc>
            </a:pPr>
            <a:r>
              <a:rPr lang="en-US" sz="1100" b="1" dirty="0">
                <a:solidFill>
                  <a:srgbClr val="FF0000"/>
                </a:solidFill>
              </a:rPr>
              <a:t>Impact Goal:</a:t>
            </a:r>
            <a:br>
              <a:rPr lang="en-US" sz="1100" dirty="0">
                <a:solidFill>
                  <a:srgbClr val="FF0000"/>
                </a:solidFill>
              </a:rPr>
            </a:br>
            <a:r>
              <a:rPr lang="en-US" sz="1100" dirty="0">
                <a:solidFill>
                  <a:srgbClr val="FF0000"/>
                </a:solidFill>
              </a:rPr>
              <a:t>Faster evacuation decisions, balanced shelter occupancy, and measurable improvement in disaster response efficiency.</a:t>
            </a:r>
          </a:p>
          <a:p>
            <a:pPr algn="just"/>
            <a:endParaRPr lang="en-CH" sz="1100" dirty="0">
              <a:solidFill>
                <a:srgbClr val="FF0000"/>
              </a:solidFill>
            </a:endParaRPr>
          </a:p>
        </p:txBody>
      </p:sp>
      <p:pic>
        <p:nvPicPr>
          <p:cNvPr id="31" name="Picture 30">
            <a:extLst>
              <a:ext uri="{FF2B5EF4-FFF2-40B4-BE49-F238E27FC236}">
                <a16:creationId xmlns:a16="http://schemas.microsoft.com/office/drawing/2014/main" id="{3BBEDB8F-1E7A-48DF-204A-2A164D30A5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9440" y="1005839"/>
            <a:ext cx="4831080" cy="5384227"/>
          </a:xfrm>
          <a:prstGeom prst="rect">
            <a:avLst/>
          </a:prstGeom>
        </p:spPr>
      </p:pic>
    </p:spTree>
    <p:extLst>
      <p:ext uri="{BB962C8B-B14F-4D97-AF65-F5344CB8AC3E}">
        <p14:creationId xmlns:p14="http://schemas.microsoft.com/office/powerpoint/2010/main" val="4093497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8</a:t>
            </a:fld>
            <a:endParaRPr lang="de-CH" noProof="0">
              <a:latin typeface="Corbel" panose="020B0503020204020204" pitchFamily="34" charset="0"/>
            </a:endParaRPr>
          </a:p>
        </p:txBody>
      </p:sp>
      <p:sp>
        <p:nvSpPr>
          <p:cNvPr id="9" name="TextBox 8">
            <a:extLst>
              <a:ext uri="{FF2B5EF4-FFF2-40B4-BE49-F238E27FC236}">
                <a16:creationId xmlns:a16="http://schemas.microsoft.com/office/drawing/2014/main" id="{F21D5782-0A23-E67C-567D-33D37096F825}"/>
              </a:ext>
            </a:extLst>
          </p:cNvPr>
          <p:cNvSpPr txBox="1"/>
          <p:nvPr/>
        </p:nvSpPr>
        <p:spPr>
          <a:xfrm>
            <a:off x="4086225" y="1354455"/>
            <a:ext cx="184731" cy="369332"/>
          </a:xfrm>
          <a:prstGeom prst="rect">
            <a:avLst/>
          </a:prstGeom>
          <a:noFill/>
        </p:spPr>
        <p:txBody>
          <a:bodyPr wrap="none" rtlCol="0">
            <a:spAutoFit/>
          </a:bodyPr>
          <a:lstStyle/>
          <a:p>
            <a:endParaRPr lang="en-CH" dirty="0"/>
          </a:p>
        </p:txBody>
      </p:sp>
      <p:sp>
        <p:nvSpPr>
          <p:cNvPr id="13" name="TextBox 12">
            <a:extLst>
              <a:ext uri="{FF2B5EF4-FFF2-40B4-BE49-F238E27FC236}">
                <a16:creationId xmlns:a16="http://schemas.microsoft.com/office/drawing/2014/main" id="{646D3AA3-1C80-0BFD-962C-29AAAE238E54}"/>
              </a:ext>
            </a:extLst>
          </p:cNvPr>
          <p:cNvSpPr txBox="1"/>
          <p:nvPr/>
        </p:nvSpPr>
        <p:spPr>
          <a:xfrm>
            <a:off x="3046095" y="2846070"/>
            <a:ext cx="184731" cy="369332"/>
          </a:xfrm>
          <a:prstGeom prst="rect">
            <a:avLst/>
          </a:prstGeom>
          <a:noFill/>
        </p:spPr>
        <p:txBody>
          <a:bodyPr wrap="none" rtlCol="0">
            <a:spAutoFit/>
          </a:bodyPr>
          <a:lstStyle/>
          <a:p>
            <a:endParaRPr lang="en-CH" dirty="0"/>
          </a:p>
        </p:txBody>
      </p:sp>
      <p:sp>
        <p:nvSpPr>
          <p:cNvPr id="17" name="TextBox 16">
            <a:extLst>
              <a:ext uri="{FF2B5EF4-FFF2-40B4-BE49-F238E27FC236}">
                <a16:creationId xmlns:a16="http://schemas.microsoft.com/office/drawing/2014/main" id="{860B65BE-28EB-4639-D1C2-67988E280650}"/>
              </a:ext>
            </a:extLst>
          </p:cNvPr>
          <p:cNvSpPr txBox="1"/>
          <p:nvPr/>
        </p:nvSpPr>
        <p:spPr>
          <a:xfrm>
            <a:off x="3046095" y="414050"/>
            <a:ext cx="5474970" cy="369332"/>
          </a:xfrm>
          <a:prstGeom prst="rect">
            <a:avLst/>
          </a:prstGeom>
          <a:noFill/>
        </p:spPr>
        <p:txBody>
          <a:bodyPr wrap="square" rtlCol="0">
            <a:spAutoFit/>
          </a:bodyPr>
          <a:lstStyle/>
          <a:p>
            <a:pPr algn="ctr"/>
            <a:r>
              <a:rPr lang="en-CH" b="1" dirty="0"/>
              <a:t>Research and Literature Review</a:t>
            </a:r>
          </a:p>
        </p:txBody>
      </p:sp>
      <p:sp>
        <p:nvSpPr>
          <p:cNvPr id="2" name="Diamond 1">
            <a:extLst>
              <a:ext uri="{FF2B5EF4-FFF2-40B4-BE49-F238E27FC236}">
                <a16:creationId xmlns:a16="http://schemas.microsoft.com/office/drawing/2014/main" id="{F93FD347-D019-BF3D-6918-B1E7A8850BCD}"/>
              </a:ext>
            </a:extLst>
          </p:cNvPr>
          <p:cNvSpPr/>
          <p:nvPr/>
        </p:nvSpPr>
        <p:spPr>
          <a:xfrm>
            <a:off x="3386666" y="719666"/>
            <a:ext cx="5418667" cy="5418667"/>
          </a:xfrm>
          <a:prstGeom prst="diamond">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sp>
      <p:sp>
        <p:nvSpPr>
          <p:cNvPr id="6" name="Rectangle: Rounded Corners 5">
            <a:extLst>
              <a:ext uri="{FF2B5EF4-FFF2-40B4-BE49-F238E27FC236}">
                <a16:creationId xmlns:a16="http://schemas.microsoft.com/office/drawing/2014/main" id="{187DDEA9-3001-2CD7-D6AB-2F63EFBA2BF8}"/>
              </a:ext>
            </a:extLst>
          </p:cNvPr>
          <p:cNvSpPr/>
          <p:nvPr/>
        </p:nvSpPr>
        <p:spPr>
          <a:xfrm>
            <a:off x="2178407" y="1490826"/>
            <a:ext cx="3605173" cy="2009317"/>
          </a:xfrm>
          <a:prstGeom prst="roundRect">
            <a:avLst/>
          </a:prstGeom>
        </p:spPr>
        <p:style>
          <a:lnRef idx="1">
            <a:schemeClr val="accent1"/>
          </a:lnRef>
          <a:fillRef idx="2">
            <a:schemeClr val="accent1"/>
          </a:fillRef>
          <a:effectRef idx="1">
            <a:schemeClr val="accent1"/>
          </a:effectRef>
          <a:fontRef idx="minor">
            <a:schemeClr val="dk1"/>
          </a:fontRef>
        </p:style>
        <p:txBody>
          <a:bodyPr/>
          <a:lstStyle/>
          <a:p>
            <a:pPr>
              <a:lnSpc>
                <a:spcPct val="150000"/>
              </a:lnSpc>
            </a:pPr>
            <a:r>
              <a:rPr lang="en-US" sz="1100" b="1" dirty="0">
                <a:solidFill>
                  <a:srgbClr val="FF0000"/>
                </a:solidFill>
              </a:rPr>
              <a:t>What Is Known</a:t>
            </a:r>
          </a:p>
          <a:p>
            <a:pPr>
              <a:lnSpc>
                <a:spcPct val="150000"/>
              </a:lnSpc>
            </a:pPr>
            <a:r>
              <a:rPr lang="en-US" sz="1100" dirty="0">
                <a:solidFill>
                  <a:srgbClr val="FF0000"/>
                </a:solidFill>
              </a:rPr>
              <a:t>Optimization models improve shelter allocation efficiency under capacity constraints. Machine Learning supports hazard prediction and evacuation forecasting. GIS-based spatial analysis enhances disaster impact mapping and route planning.</a:t>
            </a:r>
          </a:p>
        </p:txBody>
      </p:sp>
      <p:sp>
        <p:nvSpPr>
          <p:cNvPr id="12" name="Rectangle: Rounded Corners 11">
            <a:extLst>
              <a:ext uri="{FF2B5EF4-FFF2-40B4-BE49-F238E27FC236}">
                <a16:creationId xmlns:a16="http://schemas.microsoft.com/office/drawing/2014/main" id="{73620501-9344-2220-EA16-08F69F2E8D15}"/>
              </a:ext>
            </a:extLst>
          </p:cNvPr>
          <p:cNvSpPr/>
          <p:nvPr/>
        </p:nvSpPr>
        <p:spPr>
          <a:xfrm>
            <a:off x="6668817" y="1539121"/>
            <a:ext cx="3704495" cy="1983126"/>
          </a:xfrm>
          <a:prstGeom prst="roundRect">
            <a:avLst/>
          </a:prstGeom>
        </p:spPr>
        <p:style>
          <a:lnRef idx="1">
            <a:schemeClr val="accent1"/>
          </a:lnRef>
          <a:fillRef idx="2">
            <a:schemeClr val="accent1"/>
          </a:fillRef>
          <a:effectRef idx="1">
            <a:schemeClr val="accent1"/>
          </a:effectRef>
          <a:fontRef idx="minor">
            <a:schemeClr val="dk1"/>
          </a:fontRef>
        </p:style>
        <p:txBody>
          <a:bodyPr/>
          <a:lstStyle/>
          <a:p>
            <a:pPr>
              <a:lnSpc>
                <a:spcPct val="150000"/>
              </a:lnSpc>
            </a:pPr>
            <a:r>
              <a:rPr lang="en-US" sz="1100" b="1" dirty="0">
                <a:solidFill>
                  <a:srgbClr val="FF0000"/>
                </a:solidFill>
              </a:rPr>
              <a:t>What Is Missing</a:t>
            </a:r>
          </a:p>
          <a:p>
            <a:pPr>
              <a:lnSpc>
                <a:spcPct val="150000"/>
              </a:lnSpc>
            </a:pPr>
            <a:r>
              <a:rPr lang="en-US" sz="1100" dirty="0">
                <a:solidFill>
                  <a:srgbClr val="FF0000"/>
                </a:solidFill>
              </a:rPr>
              <a:t>Lack of integrated systems combining hazard detection, allocation, and forecasting. Reactive shelter management without predictive overcrowding prevention. Limited enforcement of vulnerable-group prioritization. Poor resilience to connectivity and power disruptions.</a:t>
            </a:r>
          </a:p>
        </p:txBody>
      </p:sp>
      <p:sp>
        <p:nvSpPr>
          <p:cNvPr id="16" name="Rectangle: Rounded Corners 15">
            <a:extLst>
              <a:ext uri="{FF2B5EF4-FFF2-40B4-BE49-F238E27FC236}">
                <a16:creationId xmlns:a16="http://schemas.microsoft.com/office/drawing/2014/main" id="{B01DA935-6D4D-83EF-69F9-DF3C3EC2348E}"/>
              </a:ext>
            </a:extLst>
          </p:cNvPr>
          <p:cNvSpPr/>
          <p:nvPr/>
        </p:nvSpPr>
        <p:spPr>
          <a:xfrm>
            <a:off x="4086225" y="3974389"/>
            <a:ext cx="4063425" cy="1676602"/>
          </a:xfrm>
          <a:prstGeom prst="roundRect">
            <a:avLst/>
          </a:prstGeom>
        </p:spPr>
        <p:style>
          <a:lnRef idx="1">
            <a:schemeClr val="accent1"/>
          </a:lnRef>
          <a:fillRef idx="2">
            <a:schemeClr val="accent1"/>
          </a:fillRef>
          <a:effectRef idx="1">
            <a:schemeClr val="accent1"/>
          </a:effectRef>
          <a:fontRef idx="minor">
            <a:schemeClr val="dk1"/>
          </a:fontRef>
        </p:style>
        <p:txBody>
          <a:bodyPr/>
          <a:lstStyle/>
          <a:p>
            <a:pPr>
              <a:lnSpc>
                <a:spcPct val="150000"/>
              </a:lnSpc>
            </a:pPr>
            <a:r>
              <a:rPr lang="en-US" sz="1100" b="1" dirty="0">
                <a:solidFill>
                  <a:srgbClr val="FF0000"/>
                </a:solidFill>
              </a:rPr>
              <a:t>Our Contribution</a:t>
            </a:r>
          </a:p>
          <a:p>
            <a:pPr>
              <a:lnSpc>
                <a:spcPct val="150000"/>
              </a:lnSpc>
            </a:pPr>
            <a:r>
              <a:rPr lang="en-US" sz="1100" dirty="0">
                <a:solidFill>
                  <a:srgbClr val="FF0000"/>
                </a:solidFill>
              </a:rPr>
              <a:t>Unified AI platform integrating prediction + optimization + real-time tracking. Proactive overcrowding alerts using time-series forecasting .Mathematically enforced vulnerability-based allocation. Offline-first, disaster-resilient system design.</a:t>
            </a:r>
          </a:p>
        </p:txBody>
      </p:sp>
    </p:spTree>
    <p:extLst>
      <p:ext uri="{BB962C8B-B14F-4D97-AF65-F5344CB8AC3E}">
        <p14:creationId xmlns:p14="http://schemas.microsoft.com/office/powerpoint/2010/main" val="214388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9</a:t>
            </a:fld>
            <a:endParaRPr lang="de-CH" noProof="0">
              <a:latin typeface="Corbel" panose="020B0503020204020204" pitchFamily="34" charset="0"/>
            </a:endParaRPr>
          </a:p>
        </p:txBody>
      </p:sp>
      <p:sp>
        <p:nvSpPr>
          <p:cNvPr id="9" name="TextBox 8">
            <a:extLst>
              <a:ext uri="{FF2B5EF4-FFF2-40B4-BE49-F238E27FC236}">
                <a16:creationId xmlns:a16="http://schemas.microsoft.com/office/drawing/2014/main" id="{F21D5782-0A23-E67C-567D-33D37096F825}"/>
              </a:ext>
            </a:extLst>
          </p:cNvPr>
          <p:cNvSpPr txBox="1"/>
          <p:nvPr/>
        </p:nvSpPr>
        <p:spPr>
          <a:xfrm>
            <a:off x="4086225" y="1354455"/>
            <a:ext cx="184731" cy="369332"/>
          </a:xfrm>
          <a:prstGeom prst="rect">
            <a:avLst/>
          </a:prstGeom>
          <a:noFill/>
        </p:spPr>
        <p:txBody>
          <a:bodyPr wrap="none" rtlCol="0">
            <a:spAutoFit/>
          </a:bodyPr>
          <a:lstStyle/>
          <a:p>
            <a:endParaRPr lang="en-CH" dirty="0"/>
          </a:p>
        </p:txBody>
      </p:sp>
      <p:sp>
        <p:nvSpPr>
          <p:cNvPr id="13" name="TextBox 12">
            <a:extLst>
              <a:ext uri="{FF2B5EF4-FFF2-40B4-BE49-F238E27FC236}">
                <a16:creationId xmlns:a16="http://schemas.microsoft.com/office/drawing/2014/main" id="{646D3AA3-1C80-0BFD-962C-29AAAE238E54}"/>
              </a:ext>
            </a:extLst>
          </p:cNvPr>
          <p:cNvSpPr txBox="1"/>
          <p:nvPr/>
        </p:nvSpPr>
        <p:spPr>
          <a:xfrm>
            <a:off x="3046095" y="2846070"/>
            <a:ext cx="184731" cy="369332"/>
          </a:xfrm>
          <a:prstGeom prst="rect">
            <a:avLst/>
          </a:prstGeom>
          <a:noFill/>
        </p:spPr>
        <p:txBody>
          <a:bodyPr wrap="none" rtlCol="0">
            <a:spAutoFit/>
          </a:bodyPr>
          <a:lstStyle/>
          <a:p>
            <a:endParaRPr lang="en-CH" dirty="0"/>
          </a:p>
        </p:txBody>
      </p:sp>
      <p:sp>
        <p:nvSpPr>
          <p:cNvPr id="17" name="TextBox 16">
            <a:extLst>
              <a:ext uri="{FF2B5EF4-FFF2-40B4-BE49-F238E27FC236}">
                <a16:creationId xmlns:a16="http://schemas.microsoft.com/office/drawing/2014/main" id="{860B65BE-28EB-4639-D1C2-67988E280650}"/>
              </a:ext>
            </a:extLst>
          </p:cNvPr>
          <p:cNvSpPr txBox="1"/>
          <p:nvPr/>
        </p:nvSpPr>
        <p:spPr>
          <a:xfrm>
            <a:off x="3230826" y="106587"/>
            <a:ext cx="5474970" cy="369332"/>
          </a:xfrm>
          <a:prstGeom prst="rect">
            <a:avLst/>
          </a:prstGeom>
          <a:noFill/>
        </p:spPr>
        <p:txBody>
          <a:bodyPr wrap="square" rtlCol="0">
            <a:spAutoFit/>
          </a:bodyPr>
          <a:lstStyle/>
          <a:p>
            <a:pPr algn="ctr"/>
            <a:r>
              <a:rPr lang="en-CH" b="1" dirty="0"/>
              <a:t>Competition + Next Steps</a:t>
            </a:r>
          </a:p>
        </p:txBody>
      </p:sp>
      <p:graphicFrame>
        <p:nvGraphicFramePr>
          <p:cNvPr id="2" name="Diagram 1">
            <a:extLst>
              <a:ext uri="{FF2B5EF4-FFF2-40B4-BE49-F238E27FC236}">
                <a16:creationId xmlns:a16="http://schemas.microsoft.com/office/drawing/2014/main" id="{67F40844-BB15-3881-1CA9-D9AF7E561417}"/>
              </a:ext>
            </a:extLst>
          </p:cNvPr>
          <p:cNvGraphicFramePr/>
          <p:nvPr>
            <p:extLst>
              <p:ext uri="{D42A27DB-BD31-4B8C-83A1-F6EECF244321}">
                <p14:modId xmlns:p14="http://schemas.microsoft.com/office/powerpoint/2010/main" val="2671441887"/>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77353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10</a:t>
            </a:fld>
            <a:endParaRPr lang="de-CH" noProof="0">
              <a:latin typeface="Corbel" panose="020B0503020204020204" pitchFamily="34" charset="0"/>
            </a:endParaRPr>
          </a:p>
        </p:txBody>
      </p:sp>
      <p:sp>
        <p:nvSpPr>
          <p:cNvPr id="9" name="TextBox 8">
            <a:extLst>
              <a:ext uri="{FF2B5EF4-FFF2-40B4-BE49-F238E27FC236}">
                <a16:creationId xmlns:a16="http://schemas.microsoft.com/office/drawing/2014/main" id="{F21D5782-0A23-E67C-567D-33D37096F825}"/>
              </a:ext>
            </a:extLst>
          </p:cNvPr>
          <p:cNvSpPr txBox="1"/>
          <p:nvPr/>
        </p:nvSpPr>
        <p:spPr>
          <a:xfrm>
            <a:off x="4086225" y="1354455"/>
            <a:ext cx="184731" cy="369332"/>
          </a:xfrm>
          <a:prstGeom prst="rect">
            <a:avLst/>
          </a:prstGeom>
          <a:noFill/>
        </p:spPr>
        <p:txBody>
          <a:bodyPr wrap="none" rtlCol="0">
            <a:spAutoFit/>
          </a:bodyPr>
          <a:lstStyle/>
          <a:p>
            <a:endParaRPr lang="en-CH" dirty="0"/>
          </a:p>
        </p:txBody>
      </p:sp>
      <p:sp>
        <p:nvSpPr>
          <p:cNvPr id="13" name="TextBox 12">
            <a:extLst>
              <a:ext uri="{FF2B5EF4-FFF2-40B4-BE49-F238E27FC236}">
                <a16:creationId xmlns:a16="http://schemas.microsoft.com/office/drawing/2014/main" id="{646D3AA3-1C80-0BFD-962C-29AAAE238E54}"/>
              </a:ext>
            </a:extLst>
          </p:cNvPr>
          <p:cNvSpPr txBox="1"/>
          <p:nvPr/>
        </p:nvSpPr>
        <p:spPr>
          <a:xfrm>
            <a:off x="3046095" y="2846070"/>
            <a:ext cx="184731" cy="369332"/>
          </a:xfrm>
          <a:prstGeom prst="rect">
            <a:avLst/>
          </a:prstGeom>
          <a:noFill/>
        </p:spPr>
        <p:txBody>
          <a:bodyPr wrap="none" rtlCol="0">
            <a:spAutoFit/>
          </a:bodyPr>
          <a:lstStyle/>
          <a:p>
            <a:endParaRPr lang="en-CH" dirty="0"/>
          </a:p>
        </p:txBody>
      </p:sp>
      <p:sp>
        <p:nvSpPr>
          <p:cNvPr id="17" name="TextBox 16">
            <a:extLst>
              <a:ext uri="{FF2B5EF4-FFF2-40B4-BE49-F238E27FC236}">
                <a16:creationId xmlns:a16="http://schemas.microsoft.com/office/drawing/2014/main" id="{860B65BE-28EB-4639-D1C2-67988E280650}"/>
              </a:ext>
            </a:extLst>
          </p:cNvPr>
          <p:cNvSpPr txBox="1"/>
          <p:nvPr/>
        </p:nvSpPr>
        <p:spPr>
          <a:xfrm>
            <a:off x="2544699" y="212020"/>
            <a:ext cx="5474970" cy="369332"/>
          </a:xfrm>
          <a:prstGeom prst="rect">
            <a:avLst/>
          </a:prstGeom>
          <a:noFill/>
        </p:spPr>
        <p:txBody>
          <a:bodyPr wrap="square" rtlCol="0">
            <a:spAutoFit/>
          </a:bodyPr>
          <a:lstStyle/>
          <a:p>
            <a:pPr algn="ctr"/>
            <a:r>
              <a:rPr lang="en-CH" b="1" dirty="0"/>
              <a:t>References</a:t>
            </a:r>
          </a:p>
        </p:txBody>
      </p:sp>
      <p:sp>
        <p:nvSpPr>
          <p:cNvPr id="4" name="Rectangle 2">
            <a:extLst>
              <a:ext uri="{FF2B5EF4-FFF2-40B4-BE49-F238E27FC236}">
                <a16:creationId xmlns:a16="http://schemas.microsoft.com/office/drawing/2014/main" id="{C6DFC8EC-5503-B7AE-5385-D81BA47E7DEF}"/>
              </a:ext>
            </a:extLst>
          </p:cNvPr>
          <p:cNvSpPr>
            <a:spLocks noChangeArrowheads="1"/>
          </p:cNvSpPr>
          <p:nvPr/>
        </p:nvSpPr>
        <p:spPr bwMode="auto">
          <a:xfrm>
            <a:off x="1087069" y="665101"/>
            <a:ext cx="8761019" cy="5393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1100" b="0" i="0" u="none" strike="noStrike" cap="none" normalizeH="0" baseline="0" dirty="0">
                <a:ln>
                  <a:noFill/>
                </a:ln>
                <a:solidFill>
                  <a:srgbClr val="FF0000"/>
                </a:solidFill>
                <a:effectLst/>
                <a:latin typeface="Arial" panose="020B0604020202020204" pitchFamily="34" charset="0"/>
              </a:rPr>
              <a:t>Chang, J., et al. </a:t>
            </a:r>
            <a:r>
              <a:rPr kumimoji="0" lang="en-US" altLang="en-US" sz="1100" b="0" i="1" u="none" strike="noStrike" cap="none" normalizeH="0" baseline="0" dirty="0">
                <a:ln>
                  <a:noFill/>
                </a:ln>
                <a:solidFill>
                  <a:srgbClr val="FF0000"/>
                </a:solidFill>
                <a:effectLst/>
                <a:latin typeface="Arial" panose="020B0604020202020204" pitchFamily="34" charset="0"/>
              </a:rPr>
              <a:t>“She</a:t>
            </a:r>
            <a:r>
              <a:rPr lang="en-US" altLang="en-US" sz="1100" i="1" dirty="0">
                <a:solidFill>
                  <a:srgbClr val="FF0000"/>
                </a:solidFill>
                <a:latin typeface="Arial" panose="020B0604020202020204" pitchFamily="34" charset="0"/>
              </a:rPr>
              <a:t>l</a:t>
            </a:r>
            <a:r>
              <a:rPr kumimoji="0" lang="en-US" altLang="en-US" sz="1100" b="0" i="1" u="none" strike="noStrike" cap="none" normalizeH="0" baseline="0" dirty="0">
                <a:ln>
                  <a:noFill/>
                </a:ln>
                <a:solidFill>
                  <a:srgbClr val="FF0000"/>
                </a:solidFill>
                <a:effectLst/>
                <a:latin typeface="Arial" panose="020B0604020202020204" pitchFamily="34" charset="0"/>
              </a:rPr>
              <a:t>ter  location–allocation problem for disaster evacuation planning: A simulation optimization approach.”</a:t>
            </a:r>
            <a:r>
              <a:rPr kumimoji="0" lang="en-US" altLang="en-US" sz="1100" b="0" i="0" u="none" strike="noStrike" cap="none" normalizeH="0" baseline="0" dirty="0">
                <a:ln>
                  <a:noFill/>
                </a:ln>
                <a:solidFill>
                  <a:srgbClr val="FF0000"/>
                </a:solidFill>
                <a:effectLst/>
                <a:latin typeface="Arial" panose="020B0604020202020204" pitchFamily="34" charset="0"/>
              </a:rPr>
              <a:t/>
            </a:r>
            <a:r>
              <a:rPr kumimoji="0" lang="en-US" altLang="en-US" sz="1100" b="0" i="1" u="none" strike="noStrike" cap="none" normalizeH="0" baseline="0" dirty="0">
                <a:ln>
                  <a:noFill/>
                </a:ln>
                <a:solidFill>
                  <a:srgbClr val="FF0000"/>
                </a:solidFill>
                <a:effectLst/>
                <a:latin typeface="Arial" panose="020B0604020202020204" pitchFamily="34" charset="0"/>
              </a:rPr>
              <a:t>Computers &amp; Operations Research</a:t>
            </a:r>
            <a:r>
              <a:rPr kumimoji="0" lang="en-US" altLang="en-US" sz="1100" b="0" i="0" u="none" strike="noStrike" cap="none" normalizeH="0" baseline="0" dirty="0">
                <a:ln>
                  <a:noFill/>
                </a:ln>
                <a:solidFill>
                  <a:srgbClr val="FF0000"/>
                </a:solidFill>
                <a:effectLst/>
                <a:latin typeface="Arial" panose="020B0604020202020204" pitchFamily="34" charset="0"/>
              </a:rPr>
              <a:t>, 171 (2024).</a:t>
            </a:r>
            <a:br>
              <a:rPr kumimoji="0" lang="en-US" altLang="en-US" sz="1100" b="0" i="0" u="none" strike="noStrike" cap="none" normalizeH="0" baseline="0" dirty="0">
                <a:ln>
                  <a:noFill/>
                </a:ln>
                <a:solidFill>
                  <a:srgbClr val="FF0000"/>
                </a:solidFill>
                <a:effectLst/>
                <a:latin typeface="Arial" panose="020B0604020202020204" pitchFamily="34" charset="0"/>
              </a:rPr>
            </a:br>
            <a:r>
              <a:rPr kumimoji="0" lang="en-US" altLang="en-US" sz="1100" b="0" i="0" u="none" strike="noStrike" cap="none" normalizeH="0" baseline="0" dirty="0">
                <a:ln>
                  <a:noFill/>
                </a:ln>
                <a:solidFill>
                  <a:srgbClr val="FF0000"/>
                </a:solidFill>
                <a:effectLst/>
                <a:latin typeface="Arial" panose="020B0604020202020204" pitchFamily="34" charset="0"/>
              </a:rPr>
              <a:t>— Presents two-stage stochastic optimization for shelter location and allocation, highlighting advanced operational research techniques for disaster response planning. </a:t>
            </a:r>
          </a:p>
          <a:p>
            <a:pPr marL="171450" marR="0" lvl="0" indent="-1714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1100" b="0" i="0" u="none" strike="noStrike" cap="none" normalizeH="0" baseline="0" dirty="0">
                <a:ln>
                  <a:noFill/>
                </a:ln>
                <a:solidFill>
                  <a:srgbClr val="FF0000"/>
                </a:solidFill>
                <a:effectLst/>
                <a:latin typeface="Arial" panose="020B0604020202020204" pitchFamily="34" charset="0"/>
              </a:rPr>
              <a:t>Yin, Y., Zhao, X., and L v, W. </a:t>
            </a:r>
            <a:r>
              <a:rPr kumimoji="0" lang="en-US" altLang="en-US" sz="1100" b="0" i="1" u="none" strike="noStrike" cap="none" normalizeH="0" baseline="0" dirty="0">
                <a:ln>
                  <a:noFill/>
                </a:ln>
                <a:solidFill>
                  <a:srgbClr val="FF0000"/>
                </a:solidFill>
                <a:effectLst/>
                <a:latin typeface="Arial" panose="020B0604020202020204" pitchFamily="34" charset="0"/>
              </a:rPr>
              <a:t>“Emergency shelter allocation planning technology for large-scale evacuation based on quantum genetic algorithm.”</a:t>
            </a:r>
            <a:r>
              <a:rPr kumimoji="0" lang="en-US" altLang="en-US" sz="1100" b="0" i="0" u="none" strike="noStrike" cap="none" normalizeH="0" baseline="0" dirty="0">
                <a:ln>
                  <a:noFill/>
                </a:ln>
                <a:solidFill>
                  <a:srgbClr val="FF0000"/>
                </a:solidFill>
                <a:effectLst/>
                <a:latin typeface="Arial" panose="020B0604020202020204" pitchFamily="34" charset="0"/>
              </a:rPr>
              <a:t/>
            </a:r>
            <a:r>
              <a:rPr kumimoji="0" lang="en-US" altLang="en-US" sz="1100" b="0" i="1" u="none" strike="noStrike" cap="none" normalizeH="0" baseline="0" dirty="0">
                <a:ln>
                  <a:noFill/>
                </a:ln>
                <a:solidFill>
                  <a:srgbClr val="FF0000"/>
                </a:solidFill>
                <a:effectLst/>
                <a:latin typeface="Arial" panose="020B0604020202020204" pitchFamily="34" charset="0"/>
              </a:rPr>
              <a:t>Frontiers in Public Health</a:t>
            </a:r>
            <a:r>
              <a:rPr kumimoji="0" lang="en-US" altLang="en-US" sz="1100" b="0" i="0" u="none" strike="noStrike" cap="none" normalizeH="0" baseline="0" dirty="0">
                <a:ln>
                  <a:noFill/>
                </a:ln>
                <a:solidFill>
                  <a:srgbClr val="FF0000"/>
                </a:solidFill>
                <a:effectLst/>
                <a:latin typeface="Arial" panose="020B0604020202020204" pitchFamily="34" charset="0"/>
              </a:rPr>
              <a:t> (2023).</a:t>
            </a:r>
            <a:br>
              <a:rPr kumimoji="0" lang="en-US" altLang="en-US" sz="1100" b="0" i="0" u="none" strike="noStrike" cap="none" normalizeH="0" baseline="0" dirty="0">
                <a:ln>
                  <a:noFill/>
                </a:ln>
                <a:solidFill>
                  <a:srgbClr val="FF0000"/>
                </a:solidFill>
                <a:effectLst/>
                <a:latin typeface="Arial" panose="020B0604020202020204" pitchFamily="34" charset="0"/>
              </a:rPr>
            </a:br>
            <a:r>
              <a:rPr kumimoji="0" lang="en-US" altLang="en-US" sz="1100" b="0" i="0" u="none" strike="noStrike" cap="none" normalizeH="0" baseline="0" dirty="0">
                <a:ln>
                  <a:noFill/>
                </a:ln>
                <a:solidFill>
                  <a:srgbClr val="FF0000"/>
                </a:solidFill>
                <a:effectLst/>
                <a:latin typeface="Arial" panose="020B0604020202020204" pitchFamily="34" charset="0"/>
              </a:rPr>
              <a:t>— Uses evolutionary algorithms for large-scale shelter allocation planning, demonstrating optimization under complex constraints in emergency contexts. </a:t>
            </a:r>
          </a:p>
          <a:p>
            <a:pPr marL="171450" marR="0" lvl="0" indent="-1714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1100" b="0" i="0" u="none" strike="noStrike" cap="none" normalizeH="0" baseline="0" dirty="0">
                <a:ln>
                  <a:noFill/>
                </a:ln>
                <a:solidFill>
                  <a:srgbClr val="FF0000"/>
                </a:solidFill>
                <a:effectLst/>
                <a:latin typeface="Arial" panose="020B0604020202020204" pitchFamily="34" charset="0"/>
              </a:rPr>
              <a:t>Lei He &amp; Zi ang Xie. </a:t>
            </a:r>
            <a:r>
              <a:rPr kumimoji="0" lang="en-US" altLang="en-US" sz="1100" b="0" i="1" u="none" strike="noStrike" cap="none" normalizeH="0" baseline="0" dirty="0">
                <a:ln>
                  <a:noFill/>
                </a:ln>
                <a:solidFill>
                  <a:srgbClr val="FF0000"/>
                </a:solidFill>
                <a:effectLst/>
                <a:latin typeface="Arial" panose="020B0604020202020204" pitchFamily="34" charset="0"/>
              </a:rPr>
              <a:t>“Optimization of Urban Shelter Locations Using Bi-Level Multi-Objective Location-Allocation Model.”</a:t>
            </a:r>
            <a:r>
              <a:rPr kumimoji="0" lang="en-US" altLang="en-US" sz="1100" b="0" i="0" u="none" strike="noStrike" cap="none" normalizeH="0" baseline="0" dirty="0">
                <a:ln>
                  <a:noFill/>
                </a:ln>
                <a:solidFill>
                  <a:srgbClr val="FF0000"/>
                </a:solidFill>
                <a:effectLst/>
                <a:latin typeface="Arial" panose="020B0604020202020204" pitchFamily="34" charset="0"/>
              </a:rPr>
              <a:t/>
            </a:r>
            <a:r>
              <a:rPr kumimoji="0" lang="en-US" altLang="en-US" sz="1100" b="0" i="1" u="none" strike="noStrike" cap="none" normalizeH="0" baseline="0" dirty="0">
                <a:ln>
                  <a:noFill/>
                </a:ln>
                <a:solidFill>
                  <a:srgbClr val="FF0000"/>
                </a:solidFill>
                <a:effectLst/>
                <a:latin typeface="Arial" panose="020B0604020202020204" pitchFamily="34" charset="0"/>
              </a:rPr>
              <a:t>Int J Environ Res Public Health</a:t>
            </a:r>
            <a:r>
              <a:rPr kumimoji="0" lang="en-US" altLang="en-US" sz="1100" b="0" i="0" u="none" strike="noStrike" cap="none" normalizeH="0" baseline="0" dirty="0">
                <a:ln>
                  <a:noFill/>
                </a:ln>
                <a:solidFill>
                  <a:srgbClr val="FF0000"/>
                </a:solidFill>
                <a:effectLst/>
                <a:latin typeface="Arial" panose="020B0604020202020204" pitchFamily="34" charset="0"/>
              </a:rPr>
              <a:t> (2022).</a:t>
            </a:r>
            <a:br>
              <a:rPr kumimoji="0" lang="en-US" altLang="en-US" sz="1100" b="0" i="0" u="none" strike="noStrike" cap="none" normalizeH="0" baseline="0" dirty="0">
                <a:ln>
                  <a:noFill/>
                </a:ln>
                <a:solidFill>
                  <a:srgbClr val="FF0000"/>
                </a:solidFill>
                <a:effectLst/>
                <a:latin typeface="Arial" panose="020B0604020202020204" pitchFamily="34" charset="0"/>
              </a:rPr>
            </a:br>
            <a:r>
              <a:rPr kumimoji="0" lang="en-US" altLang="en-US" sz="1100" b="0" i="0" u="none" strike="noStrike" cap="none" normalizeH="0" baseline="0" dirty="0">
                <a:ln>
                  <a:noFill/>
                </a:ln>
                <a:solidFill>
                  <a:srgbClr val="FF0000"/>
                </a:solidFill>
                <a:effectLst/>
                <a:latin typeface="Arial" panose="020B0604020202020204" pitchFamily="34" charset="0"/>
              </a:rPr>
              <a:t>— Introduces a bi-level multi-objective allocation framework considering accessibility, economy, and efficiency, providing grounding for advanced allocation models. </a:t>
            </a:r>
          </a:p>
          <a:p>
            <a:pPr marL="171450" marR="0" lvl="0" indent="-1714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1100" b="1" i="0" u="none" strike="noStrike" cap="none" normalizeH="0" baseline="0" dirty="0">
                <a:ln>
                  <a:noFill/>
                </a:ln>
                <a:solidFill>
                  <a:srgbClr val="FF0000"/>
                </a:solidFill>
                <a:effectLst/>
                <a:latin typeface="Arial" panose="020B0604020202020204" pitchFamily="34" charset="0"/>
              </a:rPr>
              <a:t>IEEE cases:</a:t>
            </a:r>
            <a:r>
              <a:rPr kumimoji="0" lang="en-US" altLang="en-US" sz="1100" b="0" i="0" u="none" strike="noStrike" cap="none" normalizeH="0" baseline="0" dirty="0">
                <a:ln>
                  <a:noFill/>
                </a:ln>
                <a:solidFill>
                  <a:srgbClr val="FF0000"/>
                </a:solidFill>
                <a:effectLst/>
                <a:latin typeface="Arial" panose="020B0604020202020204" pitchFamily="34" charset="0"/>
              </a:rPr>
              <a:t/>
            </a:r>
            <a:r>
              <a:rPr kumimoji="0" lang="en-US" altLang="en-US" sz="1100" b="0" i="1" u="none" strike="noStrike" cap="none" normalizeH="0" baseline="0" dirty="0">
                <a:ln>
                  <a:noFill/>
                </a:ln>
                <a:solidFill>
                  <a:srgbClr val="FF0000"/>
                </a:solidFill>
                <a:effectLst/>
                <a:latin typeface="Arial" panose="020B0604020202020204" pitchFamily="34" charset="0"/>
              </a:rPr>
              <a:t>“Intelligent Shelter Allotment for Emergency Evacuation Planning: A Case Study of Makkah.”</a:t>
            </a:r>
            <a:r>
              <a:rPr kumimoji="0" lang="en-US" altLang="en-US" sz="1100" b="0" i="0" u="none" strike="noStrike" cap="none" normalizeH="0" baseline="0" dirty="0">
                <a:ln>
                  <a:noFill/>
                </a:ln>
                <a:solidFill>
                  <a:srgbClr val="FF0000"/>
                </a:solidFill>
                <a:effectLst/>
                <a:latin typeface="Arial" panose="020B0604020202020204" pitchFamily="34" charset="0"/>
              </a:rPr>
              <a:t> (IEEE Xplore).</a:t>
            </a:r>
            <a:br>
              <a:rPr kumimoji="0" lang="en-US" altLang="en-US" sz="1100" b="0" i="0" u="none" strike="noStrike" cap="none" normalizeH="0" baseline="0" dirty="0">
                <a:ln>
                  <a:noFill/>
                </a:ln>
                <a:solidFill>
                  <a:srgbClr val="FF0000"/>
                </a:solidFill>
                <a:effectLst/>
                <a:latin typeface="Arial" panose="020B0604020202020204" pitchFamily="34" charset="0"/>
              </a:rPr>
            </a:br>
            <a:r>
              <a:rPr kumimoji="0" lang="en-US" altLang="en-US" sz="1100" b="0" i="0" u="none" strike="noStrike" cap="none" normalizeH="0" baseline="0" dirty="0">
                <a:ln>
                  <a:noFill/>
                </a:ln>
                <a:solidFill>
                  <a:srgbClr val="FF0000"/>
                </a:solidFill>
                <a:effectLst/>
                <a:latin typeface="Arial" panose="020B0604020202020204" pitchFamily="34" charset="0"/>
              </a:rPr>
              <a:t>— A region-specific study on intelligent evacuation and shelter distribution using technology-assisted planning methods. </a:t>
            </a:r>
          </a:p>
          <a:p>
            <a:pPr marL="171450" marR="0" lvl="0" indent="-1714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1100" b="0" i="0" u="none" strike="noStrike" cap="none" normalizeH="0" baseline="0" dirty="0">
                <a:ln>
                  <a:noFill/>
                </a:ln>
                <a:solidFill>
                  <a:srgbClr val="FF0000"/>
                </a:solidFill>
                <a:effectLst/>
                <a:latin typeface="Arial" panose="020B0604020202020204" pitchFamily="34" charset="0"/>
              </a:rPr>
              <a:t>Li, B., Liu, C., &amp; Mostafavi, A. </a:t>
            </a:r>
            <a:r>
              <a:rPr kumimoji="0" lang="en-US" altLang="en-US" sz="1100" b="0" i="1" u="none" strike="noStrike" cap="none" normalizeH="0" baseline="0" dirty="0">
                <a:ln>
                  <a:noFill/>
                </a:ln>
                <a:solidFill>
                  <a:srgbClr val="FF0000"/>
                </a:solidFill>
                <a:effectLst/>
                <a:latin typeface="Arial" panose="020B0604020202020204" pitchFamily="34" charset="0"/>
              </a:rPr>
              <a:t>Evac-Cast: Interpretable ML for evacuation forecasts across hurricanes and wildfires.</a:t>
            </a:r>
            <a:r>
              <a:rPr kumimoji="0" lang="en-US" altLang="en-US" sz="1100" b="0" i="0" u="none" strike="noStrike" cap="none" normalizeH="0" baseline="0" dirty="0">
                <a:ln>
                  <a:noFill/>
                </a:ln>
                <a:solidFill>
                  <a:srgbClr val="FF0000"/>
                </a:solidFill>
                <a:effectLst/>
                <a:latin typeface="Arial" panose="020B0604020202020204" pitchFamily="34" charset="0"/>
              </a:rPr>
              <a:t> (2025).</a:t>
            </a:r>
            <a:br>
              <a:rPr kumimoji="0" lang="en-US" altLang="en-US" sz="1100" b="0" i="0" u="none" strike="noStrike" cap="none" normalizeH="0" baseline="0" dirty="0">
                <a:ln>
                  <a:noFill/>
                </a:ln>
                <a:solidFill>
                  <a:srgbClr val="FF0000"/>
                </a:solidFill>
                <a:effectLst/>
                <a:latin typeface="Arial" panose="020B0604020202020204" pitchFamily="34" charset="0"/>
              </a:rPr>
            </a:br>
            <a:r>
              <a:rPr kumimoji="0" lang="en-US" altLang="en-US" sz="1100" b="0" i="0" u="none" strike="noStrike" cap="none" normalizeH="0" baseline="0" dirty="0">
                <a:ln>
                  <a:noFill/>
                </a:ln>
                <a:solidFill>
                  <a:srgbClr val="FF0000"/>
                </a:solidFill>
                <a:effectLst/>
                <a:latin typeface="Arial" panose="020B0604020202020204" pitchFamily="34" charset="0"/>
              </a:rPr>
              <a:t>— Shows ML models predicting evacuation behavior as support tools in emergency planning. </a:t>
            </a:r>
          </a:p>
          <a:p>
            <a:pPr marL="171450" marR="0" lvl="0" indent="-1714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1100" b="0" i="0" u="none" strike="noStrike" cap="none" normalizeH="0" baseline="0" dirty="0">
                <a:ln>
                  <a:noFill/>
                </a:ln>
                <a:solidFill>
                  <a:srgbClr val="FF0000"/>
                </a:solidFill>
                <a:effectLst/>
                <a:latin typeface="Arial" panose="020B0604020202020204" pitchFamily="34" charset="0"/>
              </a:rPr>
              <a:t>Sun, W., Bocchini, P., &amp; Davison, B. </a:t>
            </a:r>
            <a:r>
              <a:rPr kumimoji="0" lang="en-US" altLang="en-US" sz="1100" b="0" i="1" u="none" strike="noStrike" cap="none" normalizeH="0" baseline="0" dirty="0">
                <a:ln>
                  <a:noFill/>
                </a:ln>
                <a:solidFill>
                  <a:srgbClr val="FF0000"/>
                </a:solidFill>
                <a:effectLst/>
                <a:latin typeface="Arial" panose="020B0604020202020204" pitchFamily="34" charset="0"/>
              </a:rPr>
              <a:t>“Applications of AI for Disaster Management.”</a:t>
            </a:r>
            <a:r>
              <a:rPr kumimoji="0" lang="en-US" altLang="en-US" sz="1100" b="0" i="0" u="none" strike="noStrike" cap="none" normalizeH="0" baseline="0" dirty="0">
                <a:ln>
                  <a:noFill/>
                </a:ln>
                <a:solidFill>
                  <a:srgbClr val="FF0000"/>
                </a:solidFill>
                <a:effectLst/>
                <a:latin typeface="Arial" panose="020B0604020202020204" pitchFamily="34" charset="0"/>
              </a:rPr>
              <a:t/>
            </a:r>
            <a:r>
              <a:rPr kumimoji="0" lang="en-US" altLang="en-US" sz="1100" b="0" i="1" u="none" strike="noStrike" cap="none" normalizeH="0" baseline="0" dirty="0">
                <a:ln>
                  <a:noFill/>
                </a:ln>
                <a:solidFill>
                  <a:srgbClr val="FF0000"/>
                </a:solidFill>
                <a:effectLst/>
                <a:latin typeface="Arial" panose="020B0604020202020204" pitchFamily="34" charset="0"/>
              </a:rPr>
              <a:t>Natural Hazards</a:t>
            </a:r>
            <a:r>
              <a:rPr kumimoji="0" lang="en-US" altLang="en-US" sz="1100" b="0" i="0" u="none" strike="noStrike" cap="none" normalizeH="0" baseline="0" dirty="0">
                <a:ln>
                  <a:noFill/>
                </a:ln>
                <a:solidFill>
                  <a:srgbClr val="FF0000"/>
                </a:solidFill>
                <a:effectLst/>
                <a:latin typeface="Arial" panose="020B0604020202020204" pitchFamily="34" charset="0"/>
              </a:rPr>
              <a:t> (2020).</a:t>
            </a:r>
            <a:br>
              <a:rPr kumimoji="0" lang="en-US" altLang="en-US" sz="1100" b="0" i="0" u="none" strike="noStrike" cap="none" normalizeH="0" baseline="0" dirty="0">
                <a:ln>
                  <a:noFill/>
                </a:ln>
                <a:solidFill>
                  <a:srgbClr val="FF0000"/>
                </a:solidFill>
                <a:effectLst/>
                <a:latin typeface="Arial" panose="020B0604020202020204" pitchFamily="34" charset="0"/>
              </a:rPr>
            </a:br>
            <a:r>
              <a:rPr kumimoji="0" lang="en-US" altLang="en-US" sz="1100" b="0" i="0" u="none" strike="noStrike" cap="none" normalizeH="0" baseline="0" dirty="0">
                <a:ln>
                  <a:noFill/>
                </a:ln>
                <a:solidFill>
                  <a:srgbClr val="FF0000"/>
                </a:solidFill>
                <a:effectLst/>
                <a:latin typeface="Arial" panose="020B0604020202020204" pitchFamily="34" charset="0"/>
              </a:rPr>
              <a:t>— Comprehensive review of AI’s role across disaster response phases, including prediction and decision support. </a:t>
            </a:r>
          </a:p>
          <a:p>
            <a:pPr marL="171450" marR="0" lvl="0" indent="-1714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1100" b="0" i="0" u="none" strike="noStrike" cap="none" normalizeH="0" baseline="0" dirty="0">
                <a:ln>
                  <a:noFill/>
                </a:ln>
                <a:solidFill>
                  <a:srgbClr val="FF0000"/>
                </a:solidFill>
                <a:effectLst/>
                <a:latin typeface="Arial" panose="020B0604020202020204" pitchFamily="34" charset="0"/>
              </a:rPr>
              <a:t>Jain, H., et al. </a:t>
            </a:r>
            <a:r>
              <a:rPr kumimoji="0" lang="en-US" altLang="en-US" sz="1100" b="0" i="1" u="none" strike="noStrike" cap="none" normalizeH="0" baseline="0" dirty="0">
                <a:ln>
                  <a:noFill/>
                </a:ln>
                <a:solidFill>
                  <a:srgbClr val="FF0000"/>
                </a:solidFill>
                <a:effectLst/>
                <a:latin typeface="Arial" panose="020B0604020202020204" pitchFamily="34" charset="0"/>
              </a:rPr>
              <a:t>“Leveraging machine learning algorithms for improved disaster preparedness and response.”</a:t>
            </a:r>
            <a:r>
              <a:rPr kumimoji="0" lang="en-US" altLang="en-US" sz="1100" b="0" i="0" u="none" strike="noStrike" cap="none" normalizeH="0" baseline="0" dirty="0">
                <a:ln>
                  <a:noFill/>
                </a:ln>
                <a:solidFill>
                  <a:srgbClr val="FF0000"/>
                </a:solidFill>
                <a:effectLst/>
                <a:latin typeface="Arial" panose="020B0604020202020204" pitchFamily="34" charset="0"/>
              </a:rPr>
              <a:t/>
            </a:r>
            <a:r>
              <a:rPr kumimoji="0" lang="en-US" altLang="en-US" sz="1100" b="0" i="1" u="none" strike="noStrike" cap="none" normalizeH="0" baseline="0" dirty="0">
                <a:ln>
                  <a:noFill/>
                </a:ln>
                <a:solidFill>
                  <a:srgbClr val="FF0000"/>
                </a:solidFill>
                <a:effectLst/>
                <a:latin typeface="Arial" panose="020B0604020202020204" pitchFamily="34" charset="0"/>
              </a:rPr>
              <a:t>Frontiers in Environmental Science</a:t>
            </a:r>
            <a:r>
              <a:rPr kumimoji="0" lang="en-US" altLang="en-US" sz="1100" b="0" i="0" u="none" strike="noStrike" cap="none" normalizeH="0" baseline="0" dirty="0">
                <a:ln>
                  <a:noFill/>
                </a:ln>
                <a:solidFill>
                  <a:srgbClr val="FF0000"/>
                </a:solidFill>
                <a:effectLst/>
                <a:latin typeface="Arial" panose="020B0604020202020204" pitchFamily="34" charset="0"/>
              </a:rPr>
              <a:t> (2023).</a:t>
            </a:r>
            <a:br>
              <a:rPr kumimoji="0" lang="en-US" altLang="en-US" sz="1100" b="0" i="0" u="none" strike="noStrike" cap="none" normalizeH="0" baseline="0" dirty="0">
                <a:ln>
                  <a:noFill/>
                </a:ln>
                <a:solidFill>
                  <a:srgbClr val="FF0000"/>
                </a:solidFill>
                <a:effectLst/>
                <a:latin typeface="Arial" panose="020B0604020202020204" pitchFamily="34" charset="0"/>
              </a:rPr>
            </a:br>
            <a:r>
              <a:rPr kumimoji="0" lang="en-US" altLang="en-US" sz="1100" b="0" i="0" u="none" strike="noStrike" cap="none" normalizeH="0" baseline="0" dirty="0">
                <a:ln>
                  <a:noFill/>
                </a:ln>
                <a:solidFill>
                  <a:srgbClr val="FF0000"/>
                </a:solidFill>
                <a:effectLst/>
                <a:latin typeface="Arial" panose="020B0604020202020204" pitchFamily="34" charset="0"/>
              </a:rPr>
              <a:t>— Discusses advanced ML for forecasting weather extremes and disaster scenarios</a:t>
            </a:r>
            <a:r>
              <a:rPr kumimoji="0" lang="en-US" altLang="en-US" sz="1100" b="0" i="0" u="none" strike="noStrike" cap="none" normalizeH="0" baseline="0" dirty="0">
                <a:ln>
                  <a:noFill/>
                </a:ln>
                <a:solidFill>
                  <a:schemeClr val="tx1"/>
                </a:solidFill>
                <a:effectLst/>
                <a:latin typeface="Arial" panose="020B0604020202020204" pitchFamily="34" charset="0"/>
              </a:rPr>
              <a:t>.</a:t>
            </a:r>
          </a:p>
        </p:txBody>
      </p:sp>
      <p:pic>
        <p:nvPicPr>
          <p:cNvPr id="6" name="Picture 5">
            <a:extLst>
              <a:ext uri="{FF2B5EF4-FFF2-40B4-BE49-F238E27FC236}">
                <a16:creationId xmlns:a16="http://schemas.microsoft.com/office/drawing/2014/main" id="{4A809DC4-1A79-8A8A-43DB-B95205FB48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971075" y="581352"/>
            <a:ext cx="2095500" cy="2737920"/>
          </a:xfrm>
          <a:prstGeom prst="rect">
            <a:avLst/>
          </a:prstGeom>
        </p:spPr>
      </p:pic>
    </p:spTree>
    <p:extLst>
      <p:ext uri="{BB962C8B-B14F-4D97-AF65-F5344CB8AC3E}">
        <p14:creationId xmlns:p14="http://schemas.microsoft.com/office/powerpoint/2010/main" val="395926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79D75A7-5D53-B2A1-CBEA-53E358E8FE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097512" cy="6858000"/>
          </a:xfrm>
          <a:prstGeom prst="rect">
            <a:avLst/>
          </a:prstGeom>
        </p:spPr>
      </p:pic>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11</a:t>
            </a:fld>
            <a:endParaRPr lang="de-CH" noProof="0">
              <a:latin typeface="Corbel" panose="020B0503020204020204" pitchFamily="34" charset="0"/>
            </a:endParaRPr>
          </a:p>
        </p:txBody>
      </p:sp>
      <p:sp>
        <p:nvSpPr>
          <p:cNvPr id="9" name="TextBox 8">
            <a:extLst>
              <a:ext uri="{FF2B5EF4-FFF2-40B4-BE49-F238E27FC236}">
                <a16:creationId xmlns:a16="http://schemas.microsoft.com/office/drawing/2014/main" id="{F21D5782-0A23-E67C-567D-33D37096F825}"/>
              </a:ext>
            </a:extLst>
          </p:cNvPr>
          <p:cNvSpPr txBox="1"/>
          <p:nvPr/>
        </p:nvSpPr>
        <p:spPr>
          <a:xfrm>
            <a:off x="4086225" y="1354455"/>
            <a:ext cx="184731" cy="369332"/>
          </a:xfrm>
          <a:prstGeom prst="rect">
            <a:avLst/>
          </a:prstGeom>
          <a:noFill/>
        </p:spPr>
        <p:txBody>
          <a:bodyPr wrap="none" rtlCol="0">
            <a:spAutoFit/>
          </a:bodyPr>
          <a:lstStyle/>
          <a:p>
            <a:endParaRPr lang="en-CH" dirty="0"/>
          </a:p>
        </p:txBody>
      </p:sp>
      <p:sp>
        <p:nvSpPr>
          <p:cNvPr id="13" name="TextBox 12">
            <a:extLst>
              <a:ext uri="{FF2B5EF4-FFF2-40B4-BE49-F238E27FC236}">
                <a16:creationId xmlns:a16="http://schemas.microsoft.com/office/drawing/2014/main" id="{646D3AA3-1C80-0BFD-962C-29AAAE238E54}"/>
              </a:ext>
            </a:extLst>
          </p:cNvPr>
          <p:cNvSpPr txBox="1"/>
          <p:nvPr/>
        </p:nvSpPr>
        <p:spPr>
          <a:xfrm>
            <a:off x="3046095" y="2846070"/>
            <a:ext cx="184731" cy="369332"/>
          </a:xfrm>
          <a:prstGeom prst="rect">
            <a:avLst/>
          </a:prstGeom>
          <a:noFill/>
        </p:spPr>
        <p:txBody>
          <a:bodyPr wrap="none" rtlCol="0">
            <a:spAutoFit/>
          </a:bodyPr>
          <a:lstStyle/>
          <a:p>
            <a:endParaRPr lang="en-CH" dirty="0"/>
          </a:p>
        </p:txBody>
      </p:sp>
    </p:spTree>
    <p:extLst>
      <p:ext uri="{BB962C8B-B14F-4D97-AF65-F5344CB8AC3E}">
        <p14:creationId xmlns:p14="http://schemas.microsoft.com/office/powerpoint/2010/main" val="7396064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12</a:t>
            </a:fld>
            <a:endParaRPr lang="de-CH" noProof="0">
              <a:latin typeface="Corbel" panose="020B0503020204020204" pitchFamily="34" charset="0"/>
            </a:endParaRPr>
          </a:p>
        </p:txBody>
      </p:sp>
      <p:sp>
        <p:nvSpPr>
          <p:cNvPr id="9" name="TextBox 8">
            <a:extLst>
              <a:ext uri="{FF2B5EF4-FFF2-40B4-BE49-F238E27FC236}">
                <a16:creationId xmlns:a16="http://schemas.microsoft.com/office/drawing/2014/main" id="{F21D5782-0A23-E67C-567D-33D37096F825}"/>
              </a:ext>
            </a:extLst>
          </p:cNvPr>
          <p:cNvSpPr txBox="1"/>
          <p:nvPr/>
        </p:nvSpPr>
        <p:spPr>
          <a:xfrm>
            <a:off x="4086225" y="1354455"/>
            <a:ext cx="184731" cy="369332"/>
          </a:xfrm>
          <a:prstGeom prst="rect">
            <a:avLst/>
          </a:prstGeom>
          <a:noFill/>
        </p:spPr>
        <p:txBody>
          <a:bodyPr wrap="none" rtlCol="0">
            <a:spAutoFit/>
          </a:bodyPr>
          <a:lstStyle/>
          <a:p>
            <a:endParaRPr lang="en-CH" dirty="0"/>
          </a:p>
        </p:txBody>
      </p:sp>
      <p:sp>
        <p:nvSpPr>
          <p:cNvPr id="13" name="TextBox 12">
            <a:extLst>
              <a:ext uri="{FF2B5EF4-FFF2-40B4-BE49-F238E27FC236}">
                <a16:creationId xmlns:a16="http://schemas.microsoft.com/office/drawing/2014/main" id="{646D3AA3-1C80-0BFD-962C-29AAAE238E54}"/>
              </a:ext>
            </a:extLst>
          </p:cNvPr>
          <p:cNvSpPr txBox="1"/>
          <p:nvPr/>
        </p:nvSpPr>
        <p:spPr>
          <a:xfrm>
            <a:off x="3046095" y="2846070"/>
            <a:ext cx="184731" cy="369332"/>
          </a:xfrm>
          <a:prstGeom prst="rect">
            <a:avLst/>
          </a:prstGeom>
          <a:noFill/>
        </p:spPr>
        <p:txBody>
          <a:bodyPr wrap="none" rtlCol="0">
            <a:spAutoFit/>
          </a:bodyPr>
          <a:lstStyle/>
          <a:p>
            <a:endParaRPr lang="en-CH" dirty="0"/>
          </a:p>
        </p:txBody>
      </p:sp>
      <p:sp>
        <p:nvSpPr>
          <p:cNvPr id="3" name="TextBox 2">
            <a:extLst>
              <a:ext uri="{FF2B5EF4-FFF2-40B4-BE49-F238E27FC236}">
                <a16:creationId xmlns:a16="http://schemas.microsoft.com/office/drawing/2014/main" id="{2FCD5A51-1C98-D472-6958-81910C1EF70D}"/>
              </a:ext>
            </a:extLst>
          </p:cNvPr>
          <p:cNvSpPr txBox="1"/>
          <p:nvPr/>
        </p:nvSpPr>
        <p:spPr>
          <a:xfrm>
            <a:off x="3539436" y="191822"/>
            <a:ext cx="4939748" cy="707886"/>
          </a:xfrm>
          <a:prstGeom prst="rect">
            <a:avLst/>
          </a:prstGeom>
          <a:noFill/>
        </p:spPr>
        <p:txBody>
          <a:bodyPr wrap="square" rtlCol="0">
            <a:spAutoFit/>
          </a:bodyPr>
          <a:lstStyle/>
          <a:p>
            <a:pPr algn="ctr"/>
            <a:r>
              <a:rPr lang="en-US" sz="4000" dirty="0"/>
              <a:t>IDEATION</a:t>
            </a:r>
            <a:endParaRPr lang="en-CH" sz="4000" dirty="0"/>
          </a:p>
        </p:txBody>
      </p:sp>
      <p:pic>
        <p:nvPicPr>
          <p:cNvPr id="4" name="Picture 3">
            <a:extLst>
              <a:ext uri="{FF2B5EF4-FFF2-40B4-BE49-F238E27FC236}">
                <a16:creationId xmlns:a16="http://schemas.microsoft.com/office/drawing/2014/main" id="{C5C37B7F-17D2-AF0F-8226-D139830B70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005840"/>
            <a:ext cx="10853928" cy="5129784"/>
          </a:xfrm>
          <a:prstGeom prst="rect">
            <a:avLst/>
          </a:prstGeom>
        </p:spPr>
      </p:pic>
    </p:spTree>
    <p:extLst>
      <p:ext uri="{BB962C8B-B14F-4D97-AF65-F5344CB8AC3E}">
        <p14:creationId xmlns:p14="http://schemas.microsoft.com/office/powerpoint/2010/main" val="35478913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13</a:t>
            </a:fld>
            <a:endParaRPr lang="de-CH" noProof="0">
              <a:latin typeface="Corbel" panose="020B0503020204020204" pitchFamily="34" charset="0"/>
            </a:endParaRPr>
          </a:p>
        </p:txBody>
      </p:sp>
      <p:sp>
        <p:nvSpPr>
          <p:cNvPr id="9" name="TextBox 8">
            <a:extLst>
              <a:ext uri="{FF2B5EF4-FFF2-40B4-BE49-F238E27FC236}">
                <a16:creationId xmlns:a16="http://schemas.microsoft.com/office/drawing/2014/main" id="{F21D5782-0A23-E67C-567D-33D37096F825}"/>
              </a:ext>
            </a:extLst>
          </p:cNvPr>
          <p:cNvSpPr txBox="1"/>
          <p:nvPr/>
        </p:nvSpPr>
        <p:spPr>
          <a:xfrm>
            <a:off x="4086225" y="1354455"/>
            <a:ext cx="184731" cy="369332"/>
          </a:xfrm>
          <a:prstGeom prst="rect">
            <a:avLst/>
          </a:prstGeom>
          <a:noFill/>
        </p:spPr>
        <p:txBody>
          <a:bodyPr wrap="none" rtlCol="0">
            <a:spAutoFit/>
          </a:bodyPr>
          <a:lstStyle/>
          <a:p>
            <a:endParaRPr lang="en-CH" dirty="0"/>
          </a:p>
        </p:txBody>
      </p:sp>
      <p:sp>
        <p:nvSpPr>
          <p:cNvPr id="13" name="TextBox 12">
            <a:extLst>
              <a:ext uri="{FF2B5EF4-FFF2-40B4-BE49-F238E27FC236}">
                <a16:creationId xmlns:a16="http://schemas.microsoft.com/office/drawing/2014/main" id="{646D3AA3-1C80-0BFD-962C-29AAAE238E54}"/>
              </a:ext>
            </a:extLst>
          </p:cNvPr>
          <p:cNvSpPr txBox="1"/>
          <p:nvPr/>
        </p:nvSpPr>
        <p:spPr>
          <a:xfrm>
            <a:off x="3046095" y="2846070"/>
            <a:ext cx="184731" cy="369332"/>
          </a:xfrm>
          <a:prstGeom prst="rect">
            <a:avLst/>
          </a:prstGeom>
          <a:noFill/>
        </p:spPr>
        <p:txBody>
          <a:bodyPr wrap="none" rtlCol="0">
            <a:spAutoFit/>
          </a:bodyPr>
          <a:lstStyle/>
          <a:p>
            <a:endParaRPr lang="en-CH" dirty="0"/>
          </a:p>
        </p:txBody>
      </p:sp>
      <p:sp>
        <p:nvSpPr>
          <p:cNvPr id="3" name="TextBox 2">
            <a:extLst>
              <a:ext uri="{FF2B5EF4-FFF2-40B4-BE49-F238E27FC236}">
                <a16:creationId xmlns:a16="http://schemas.microsoft.com/office/drawing/2014/main" id="{2FCD5A51-1C98-D472-6958-81910C1EF70D}"/>
              </a:ext>
            </a:extLst>
          </p:cNvPr>
          <p:cNvSpPr txBox="1"/>
          <p:nvPr/>
        </p:nvSpPr>
        <p:spPr>
          <a:xfrm>
            <a:off x="3599125" y="221346"/>
            <a:ext cx="4939748" cy="707886"/>
          </a:xfrm>
          <a:prstGeom prst="rect">
            <a:avLst/>
          </a:prstGeom>
          <a:noFill/>
        </p:spPr>
        <p:txBody>
          <a:bodyPr wrap="square" rtlCol="0">
            <a:spAutoFit/>
          </a:bodyPr>
          <a:lstStyle/>
          <a:p>
            <a:pPr algn="ctr"/>
            <a:r>
              <a:rPr lang="en-US" sz="4000" b="1" dirty="0"/>
              <a:t>WORKFLOW</a:t>
            </a:r>
            <a:endParaRPr lang="en-CH" sz="4000" b="1" dirty="0"/>
          </a:p>
        </p:txBody>
      </p:sp>
      <p:pic>
        <p:nvPicPr>
          <p:cNvPr id="4" name="Picture 3">
            <a:extLst>
              <a:ext uri="{FF2B5EF4-FFF2-40B4-BE49-F238E27FC236}">
                <a16:creationId xmlns:a16="http://schemas.microsoft.com/office/drawing/2014/main" id="{99412F4D-C3F0-4FE6-3E17-A450D9B8DA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500" y="1033272"/>
            <a:ext cx="10536999" cy="5138928"/>
          </a:xfrm>
          <a:prstGeom prst="rect">
            <a:avLst/>
          </a:prstGeom>
        </p:spPr>
      </p:pic>
    </p:spTree>
    <p:extLst>
      <p:ext uri="{BB962C8B-B14F-4D97-AF65-F5344CB8AC3E}">
        <p14:creationId xmlns:p14="http://schemas.microsoft.com/office/powerpoint/2010/main" val="975306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048C346-D6DC-AA7F-5704-7995676CCC42}"/>
              </a:ext>
            </a:extLst>
          </p:cNvPr>
          <p:cNvPicPr>
            <a:picLocks noChangeAspect="1"/>
          </p:cNvPicPr>
          <p:nvPr/>
        </p:nvPicPr>
        <p:blipFill>
          <a:blip r:embed="rId3"/>
          <a:stretch>
            <a:fillRect/>
          </a:stretch>
        </p:blipFill>
        <p:spPr>
          <a:xfrm>
            <a:off x="-1" y="1"/>
            <a:ext cx="12233535" cy="6878574"/>
          </a:xfrm>
          <a:prstGeom prst="rect">
            <a:avLst/>
          </a:prstGeom>
        </p:spPr>
      </p:pic>
      <p:pic>
        <p:nvPicPr>
          <p:cNvPr id="7" name="Picture 6">
            <a:extLst>
              <a:ext uri="{FF2B5EF4-FFF2-40B4-BE49-F238E27FC236}">
                <a16:creationId xmlns:a16="http://schemas.microsoft.com/office/drawing/2014/main" id="{ED26595E-80FA-4E24-9B9B-45B1BE8893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52944" y="-1"/>
            <a:ext cx="4751832" cy="6858000"/>
          </a:xfrm>
          <a:prstGeom prst="rect">
            <a:avLst/>
          </a:prstGeom>
        </p:spPr>
      </p:pic>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14</a:t>
            </a:fld>
            <a:endParaRPr lang="de-CH" noProof="0">
              <a:latin typeface="Corbel" panose="020B0503020204020204" pitchFamily="34" charset="0"/>
            </a:endParaRPr>
          </a:p>
        </p:txBody>
      </p:sp>
      <p:sp>
        <p:nvSpPr>
          <p:cNvPr id="9" name="TextBox 8">
            <a:extLst>
              <a:ext uri="{FF2B5EF4-FFF2-40B4-BE49-F238E27FC236}">
                <a16:creationId xmlns:a16="http://schemas.microsoft.com/office/drawing/2014/main" id="{F21D5782-0A23-E67C-567D-33D37096F825}"/>
              </a:ext>
            </a:extLst>
          </p:cNvPr>
          <p:cNvSpPr txBox="1"/>
          <p:nvPr/>
        </p:nvSpPr>
        <p:spPr>
          <a:xfrm>
            <a:off x="4086225" y="1354455"/>
            <a:ext cx="184731" cy="369332"/>
          </a:xfrm>
          <a:prstGeom prst="rect">
            <a:avLst/>
          </a:prstGeom>
          <a:noFill/>
        </p:spPr>
        <p:txBody>
          <a:bodyPr wrap="none" rtlCol="0">
            <a:spAutoFit/>
          </a:bodyPr>
          <a:lstStyle/>
          <a:p>
            <a:endParaRPr lang="en-CH" dirty="0"/>
          </a:p>
        </p:txBody>
      </p:sp>
      <p:sp>
        <p:nvSpPr>
          <p:cNvPr id="13" name="TextBox 12">
            <a:extLst>
              <a:ext uri="{FF2B5EF4-FFF2-40B4-BE49-F238E27FC236}">
                <a16:creationId xmlns:a16="http://schemas.microsoft.com/office/drawing/2014/main" id="{646D3AA3-1C80-0BFD-962C-29AAAE238E54}"/>
              </a:ext>
            </a:extLst>
          </p:cNvPr>
          <p:cNvSpPr txBox="1"/>
          <p:nvPr/>
        </p:nvSpPr>
        <p:spPr>
          <a:xfrm>
            <a:off x="3046095" y="2846070"/>
            <a:ext cx="184731" cy="369332"/>
          </a:xfrm>
          <a:prstGeom prst="rect">
            <a:avLst/>
          </a:prstGeom>
          <a:noFill/>
        </p:spPr>
        <p:txBody>
          <a:bodyPr wrap="none" rtlCol="0">
            <a:spAutoFit/>
          </a:bodyPr>
          <a:lstStyle/>
          <a:p>
            <a:endParaRPr lang="en-CH" dirty="0"/>
          </a:p>
        </p:txBody>
      </p:sp>
      <p:sp>
        <p:nvSpPr>
          <p:cNvPr id="3" name="TextBox 2">
            <a:extLst>
              <a:ext uri="{FF2B5EF4-FFF2-40B4-BE49-F238E27FC236}">
                <a16:creationId xmlns:a16="http://schemas.microsoft.com/office/drawing/2014/main" id="{2FCD5A51-1C98-D472-6958-81910C1EF70D}"/>
              </a:ext>
            </a:extLst>
          </p:cNvPr>
          <p:cNvSpPr txBox="1"/>
          <p:nvPr/>
        </p:nvSpPr>
        <p:spPr>
          <a:xfrm>
            <a:off x="3138460" y="2738348"/>
            <a:ext cx="4939748" cy="954107"/>
          </a:xfrm>
          <a:prstGeom prst="rect">
            <a:avLst/>
          </a:prstGeom>
          <a:noFill/>
        </p:spPr>
        <p:txBody>
          <a:bodyPr wrap="square" rtlCol="0">
            <a:spAutoFit/>
          </a:bodyPr>
          <a:lstStyle/>
          <a:p>
            <a:pPr algn="ctr"/>
            <a:r>
              <a:rPr lang="en-US" sz="4000" dirty="0">
                <a:solidFill>
                  <a:schemeClr val="bg1"/>
                </a:solidFill>
              </a:rPr>
              <a:t>CODESPACE</a:t>
            </a:r>
            <a:endParaRPr lang="en-CH" sz="4000" dirty="0">
              <a:solidFill>
                <a:schemeClr val="bg1"/>
              </a:solidFill>
            </a:endParaRPr>
          </a:p>
          <a:p>
            <a:pPr algn="ctr"/>
            <a:endParaRPr lang="en-CH" sz="1600" dirty="0"/>
          </a:p>
        </p:txBody>
      </p:sp>
    </p:spTree>
    <p:extLst>
      <p:ext uri="{BB962C8B-B14F-4D97-AF65-F5344CB8AC3E}">
        <p14:creationId xmlns:p14="http://schemas.microsoft.com/office/powerpoint/2010/main" val="38771905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15</a:t>
            </a:fld>
            <a:endParaRPr lang="de-CH" noProof="0">
              <a:latin typeface="Corbel" panose="020B0503020204020204" pitchFamily="34" charset="0"/>
            </a:endParaRPr>
          </a:p>
        </p:txBody>
      </p:sp>
      <p:sp>
        <p:nvSpPr>
          <p:cNvPr id="9" name="TextBox 8">
            <a:extLst>
              <a:ext uri="{FF2B5EF4-FFF2-40B4-BE49-F238E27FC236}">
                <a16:creationId xmlns:a16="http://schemas.microsoft.com/office/drawing/2014/main" id="{F21D5782-0A23-E67C-567D-33D37096F825}"/>
              </a:ext>
            </a:extLst>
          </p:cNvPr>
          <p:cNvSpPr txBox="1"/>
          <p:nvPr/>
        </p:nvSpPr>
        <p:spPr>
          <a:xfrm>
            <a:off x="4086225" y="1354455"/>
            <a:ext cx="184731" cy="369332"/>
          </a:xfrm>
          <a:prstGeom prst="rect">
            <a:avLst/>
          </a:prstGeom>
          <a:noFill/>
        </p:spPr>
        <p:txBody>
          <a:bodyPr wrap="none" rtlCol="0">
            <a:spAutoFit/>
          </a:bodyPr>
          <a:lstStyle/>
          <a:p>
            <a:endParaRPr lang="en-CH" dirty="0"/>
          </a:p>
        </p:txBody>
      </p:sp>
      <p:sp>
        <p:nvSpPr>
          <p:cNvPr id="13" name="TextBox 12">
            <a:extLst>
              <a:ext uri="{FF2B5EF4-FFF2-40B4-BE49-F238E27FC236}">
                <a16:creationId xmlns:a16="http://schemas.microsoft.com/office/drawing/2014/main" id="{646D3AA3-1C80-0BFD-962C-29AAAE238E54}"/>
              </a:ext>
            </a:extLst>
          </p:cNvPr>
          <p:cNvSpPr txBox="1"/>
          <p:nvPr/>
        </p:nvSpPr>
        <p:spPr>
          <a:xfrm>
            <a:off x="3046095" y="2846070"/>
            <a:ext cx="184731" cy="369332"/>
          </a:xfrm>
          <a:prstGeom prst="rect">
            <a:avLst/>
          </a:prstGeom>
          <a:noFill/>
        </p:spPr>
        <p:txBody>
          <a:bodyPr wrap="none" rtlCol="0">
            <a:spAutoFit/>
          </a:bodyPr>
          <a:lstStyle/>
          <a:p>
            <a:endParaRPr lang="en-CH" dirty="0"/>
          </a:p>
        </p:txBody>
      </p:sp>
      <p:sp>
        <p:nvSpPr>
          <p:cNvPr id="3" name="TextBox 2">
            <a:extLst>
              <a:ext uri="{FF2B5EF4-FFF2-40B4-BE49-F238E27FC236}">
                <a16:creationId xmlns:a16="http://schemas.microsoft.com/office/drawing/2014/main" id="{2FCD5A51-1C98-D472-6958-81910C1EF70D}"/>
              </a:ext>
            </a:extLst>
          </p:cNvPr>
          <p:cNvSpPr txBox="1"/>
          <p:nvPr/>
        </p:nvSpPr>
        <p:spPr>
          <a:xfrm>
            <a:off x="3868283" y="138671"/>
            <a:ext cx="4939748" cy="707886"/>
          </a:xfrm>
          <a:prstGeom prst="rect">
            <a:avLst/>
          </a:prstGeom>
          <a:noFill/>
        </p:spPr>
        <p:txBody>
          <a:bodyPr wrap="square" rtlCol="0">
            <a:spAutoFit/>
          </a:bodyPr>
          <a:lstStyle/>
          <a:p>
            <a:pPr algn="ctr"/>
            <a:r>
              <a:rPr lang="en-US" sz="4000" b="1" dirty="0"/>
              <a:t>WEB FRAMEWORK</a:t>
            </a:r>
            <a:endParaRPr lang="en-CH" sz="4000" b="1" dirty="0"/>
          </a:p>
        </p:txBody>
      </p:sp>
      <p:pic>
        <p:nvPicPr>
          <p:cNvPr id="4" name="Picture 3">
            <a:extLst>
              <a:ext uri="{FF2B5EF4-FFF2-40B4-BE49-F238E27FC236}">
                <a16:creationId xmlns:a16="http://schemas.microsoft.com/office/drawing/2014/main" id="{F992830C-D4F5-87A4-671E-464F8F54A7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099" y="846557"/>
            <a:ext cx="10865802" cy="5457493"/>
          </a:xfrm>
          <a:prstGeom prst="rect">
            <a:avLst/>
          </a:prstGeom>
        </p:spPr>
      </p:pic>
    </p:spTree>
    <p:extLst>
      <p:ext uri="{BB962C8B-B14F-4D97-AF65-F5344CB8AC3E}">
        <p14:creationId xmlns:p14="http://schemas.microsoft.com/office/powerpoint/2010/main" val="1422157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905A261-B092-0644-6905-71B6B6E344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Slide Number Placeholder 4"/>
          <p:cNvSpPr>
            <a:spLocks noGrp="1"/>
          </p:cNvSpPr>
          <p:nvPr>
            <p:ph type="sldNum" sz="quarter" idx="12"/>
          </p:nvPr>
        </p:nvSpPr>
        <p:spPr/>
        <p:txBody>
          <a:bodyPr/>
          <a:lstStyle/>
          <a:p>
            <a:fld id="{5ACA52AF-F19D-405C-AD5F-7D94B96A5CC3}" type="slidenum">
              <a:rPr lang="de-CH" noProof="0" smtClean="0">
                <a:latin typeface="Corbel" panose="020B0503020204020204" pitchFamily="34" charset="0"/>
              </a:rPr>
              <a:t>16</a:t>
            </a:fld>
            <a:endParaRPr lang="de-CH" noProof="0">
              <a:latin typeface="Corbel" panose="020B0503020204020204" pitchFamily="34" charset="0"/>
            </a:endParaRPr>
          </a:p>
        </p:txBody>
      </p:sp>
      <p:sp>
        <p:nvSpPr>
          <p:cNvPr id="9" name="TextBox 8">
            <a:extLst>
              <a:ext uri="{FF2B5EF4-FFF2-40B4-BE49-F238E27FC236}">
                <a16:creationId xmlns:a16="http://schemas.microsoft.com/office/drawing/2014/main" id="{F21D5782-0A23-E67C-567D-33D37096F825}"/>
              </a:ext>
            </a:extLst>
          </p:cNvPr>
          <p:cNvSpPr txBox="1"/>
          <p:nvPr/>
        </p:nvSpPr>
        <p:spPr>
          <a:xfrm>
            <a:off x="4086225" y="1354455"/>
            <a:ext cx="184731" cy="369332"/>
          </a:xfrm>
          <a:prstGeom prst="rect">
            <a:avLst/>
          </a:prstGeom>
          <a:noFill/>
        </p:spPr>
        <p:txBody>
          <a:bodyPr wrap="none" rtlCol="0">
            <a:spAutoFit/>
          </a:bodyPr>
          <a:lstStyle/>
          <a:p>
            <a:endParaRPr lang="en-CH" dirty="0"/>
          </a:p>
        </p:txBody>
      </p:sp>
      <p:sp>
        <p:nvSpPr>
          <p:cNvPr id="13" name="TextBox 12">
            <a:extLst>
              <a:ext uri="{FF2B5EF4-FFF2-40B4-BE49-F238E27FC236}">
                <a16:creationId xmlns:a16="http://schemas.microsoft.com/office/drawing/2014/main" id="{646D3AA3-1C80-0BFD-962C-29AAAE238E54}"/>
              </a:ext>
            </a:extLst>
          </p:cNvPr>
          <p:cNvSpPr txBox="1"/>
          <p:nvPr/>
        </p:nvSpPr>
        <p:spPr>
          <a:xfrm>
            <a:off x="3046095" y="2846070"/>
            <a:ext cx="184731" cy="369332"/>
          </a:xfrm>
          <a:prstGeom prst="rect">
            <a:avLst/>
          </a:prstGeom>
          <a:noFill/>
        </p:spPr>
        <p:txBody>
          <a:bodyPr wrap="none" rtlCol="0">
            <a:spAutoFit/>
          </a:bodyPr>
          <a:lstStyle/>
          <a:p>
            <a:endParaRPr lang="en-CH" dirty="0"/>
          </a:p>
        </p:txBody>
      </p:sp>
      <p:sp>
        <p:nvSpPr>
          <p:cNvPr id="3" name="TextBox 2">
            <a:extLst>
              <a:ext uri="{FF2B5EF4-FFF2-40B4-BE49-F238E27FC236}">
                <a16:creationId xmlns:a16="http://schemas.microsoft.com/office/drawing/2014/main" id="{2FCD5A51-1C98-D472-6958-81910C1EF70D}"/>
              </a:ext>
            </a:extLst>
          </p:cNvPr>
          <p:cNvSpPr txBox="1"/>
          <p:nvPr/>
        </p:nvSpPr>
        <p:spPr>
          <a:xfrm>
            <a:off x="3470678" y="1404890"/>
            <a:ext cx="4939748" cy="1323439"/>
          </a:xfrm>
          <a:prstGeom prst="rect">
            <a:avLst/>
          </a:prstGeom>
          <a:noFill/>
        </p:spPr>
        <p:txBody>
          <a:bodyPr wrap="square" rtlCol="0">
            <a:spAutoFit/>
          </a:bodyPr>
          <a:lstStyle/>
          <a:p>
            <a:pPr algn="ctr"/>
            <a:r>
              <a:rPr lang="en-CH" sz="4000" dirty="0"/>
              <a:t>APPENDIX E</a:t>
            </a:r>
            <a:endParaRPr lang="en-US" sz="4000" dirty="0"/>
          </a:p>
          <a:p>
            <a:pPr algn="ctr"/>
            <a:r>
              <a:rPr lang="en-US" sz="4000" dirty="0"/>
              <a:t>BACKEND</a:t>
            </a:r>
            <a:endParaRPr lang="en-CH" sz="4000" dirty="0"/>
          </a:p>
        </p:txBody>
      </p:sp>
    </p:spTree>
    <p:extLst>
      <p:ext uri="{BB962C8B-B14F-4D97-AF65-F5344CB8AC3E}">
        <p14:creationId xmlns:p14="http://schemas.microsoft.com/office/powerpoint/2010/main" val="5371829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B71B6F17-8053-8927-8CDF-C085E6F8BDC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sp>
        <p:nvSpPr>
          <p:cNvPr id="4" name="Slide Number Placeholder 3">
            <a:extLst>
              <a:ext uri="{FF2B5EF4-FFF2-40B4-BE49-F238E27FC236}">
                <a16:creationId xmlns:a16="http://schemas.microsoft.com/office/drawing/2014/main" id="{E89468C2-1CCC-6BC2-0186-246BC72BD3F6}"/>
              </a:ext>
            </a:extLst>
          </p:cNvPr>
          <p:cNvSpPr>
            <a:spLocks noGrp="1"/>
          </p:cNvSpPr>
          <p:nvPr>
            <p:ph type="sldNum" sz="quarter" idx="12"/>
          </p:nvPr>
        </p:nvSpPr>
        <p:spPr/>
        <p:txBody>
          <a:bodyPr/>
          <a:lstStyle/>
          <a:p>
            <a:fld id="{5ACA52AF-F19D-405C-AD5F-7D94B96A5CC3}" type="slidenum">
              <a:rPr lang="de-CH" noProof="0" smtClean="0"/>
              <a:t>17</a:t>
            </a:fld>
            <a:endParaRPr lang="de-CH" noProof="0"/>
          </a:p>
        </p:txBody>
      </p:sp>
    </p:spTree>
    <p:extLst>
      <p:ext uri="{BB962C8B-B14F-4D97-AF65-F5344CB8AC3E}">
        <p14:creationId xmlns:p14="http://schemas.microsoft.com/office/powerpoint/2010/main" val="956468126"/>
      </p:ext>
    </p:extLst>
  </p:cSld>
  <p:clrMapOvr>
    <a:masterClrMapping/>
  </p:clrMapOvr>
</p:sld>
</file>

<file path=ppt/theme/theme1.xml><?xml version="1.0" encoding="utf-8"?>
<a:theme xmlns:a="http://schemas.openxmlformats.org/drawingml/2006/main" name="ETH Zürich">
  <a:themeElements>
    <a:clrScheme name="ETH Zürich">
      <a:dk1>
        <a:sysClr val="windowText" lastClr="000000"/>
      </a:dk1>
      <a:lt1>
        <a:sysClr val="window" lastClr="FFFFFF"/>
      </a:lt1>
      <a:dk2>
        <a:srgbClr val="000000"/>
      </a:dk2>
      <a:lt2>
        <a:srgbClr val="FFFFFF"/>
      </a:lt2>
      <a:accent1>
        <a:srgbClr val="1269B0"/>
      </a:accent1>
      <a:accent2>
        <a:srgbClr val="91056A"/>
      </a:accent2>
      <a:accent3>
        <a:srgbClr val="007A96"/>
      </a:accent3>
      <a:accent4>
        <a:srgbClr val="485A2C"/>
      </a:accent4>
      <a:accent5>
        <a:srgbClr val="A8322D"/>
      </a:accent5>
      <a:accent6>
        <a:srgbClr val="72791C"/>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xtern">
      <a:srgbClr val="1F407A"/>
    </a:custClr>
    <a:custClr name="Intern">
      <a:srgbClr val="485A2C"/>
    </a:custClr>
    <a:custClr name="ETH 3">
      <a:srgbClr val="1269B0"/>
    </a:custClr>
    <a:custClr name="ETH 4">
      <a:srgbClr val="72791C"/>
    </a:custClr>
    <a:custClr name="ETH 5">
      <a:srgbClr val="91056A"/>
    </a:custClr>
    <a:custClr name="ETH 6">
      <a:srgbClr val="6F6F6F"/>
    </a:custClr>
    <a:custClr name="ETH 7">
      <a:srgbClr val="A8322D"/>
    </a:custClr>
    <a:custClr name="ETH 8">
      <a:srgbClr val="007A96"/>
    </a:custClr>
    <a:custClr name="ETH 9">
      <a:srgbClr val="956013"/>
    </a:custClr>
  </a:custClrLst>
  <a:extLst>
    <a:ext uri="{05A4C25C-085E-4340-85A3-A5531E510DB2}">
      <thm15:themeFamily xmlns:thm15="http://schemas.microsoft.com/office/thememl/2012/main" name="Präsentation1" id="{14245BD0-795E-45C4-8F56-20887326467A}" vid="{230BD0BD-C392-4E12-84D2-EC8121982B2A}"/>
    </a:ext>
  </a:extLst>
</a:theme>
</file>

<file path=ppt/theme/theme2.xml><?xml version="1.0" encoding="utf-8"?>
<a:theme xmlns:a="http://schemas.openxmlformats.org/drawingml/2006/main" name="Office">
  <a:themeElements>
    <a:clrScheme name="ETH Zürich">
      <a:dk1>
        <a:sysClr val="windowText" lastClr="000000"/>
      </a:dk1>
      <a:lt1>
        <a:sysClr val="window" lastClr="FFFFFF"/>
      </a:lt1>
      <a:dk2>
        <a:srgbClr val="000000"/>
      </a:dk2>
      <a:lt2>
        <a:srgbClr val="FFFFFF"/>
      </a:lt2>
      <a:accent1>
        <a:srgbClr val="1269B0"/>
      </a:accent1>
      <a:accent2>
        <a:srgbClr val="91056A"/>
      </a:accent2>
      <a:accent3>
        <a:srgbClr val="007A96"/>
      </a:accent3>
      <a:accent4>
        <a:srgbClr val="485A2C"/>
      </a:accent4>
      <a:accent5>
        <a:srgbClr val="A8322D"/>
      </a:accent5>
      <a:accent6>
        <a:srgbClr val="72791C"/>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xtern">
      <a:srgbClr val="1F407A"/>
    </a:custClr>
    <a:custClr name="Intern">
      <a:srgbClr val="485A2C"/>
    </a:custClr>
    <a:custClr name="ETH 3">
      <a:srgbClr val="1269B0"/>
    </a:custClr>
    <a:custClr name="ETH 4">
      <a:srgbClr val="72791C"/>
    </a:custClr>
    <a:custClr name="ETH 5">
      <a:srgbClr val="91056A"/>
    </a:custClr>
    <a:custClr name="ETH 6">
      <a:srgbClr val="6F6F6F"/>
    </a:custClr>
    <a:custClr name="ETH 7">
      <a:srgbClr val="A8322D"/>
    </a:custClr>
    <a:custClr name="ETH 8">
      <a:srgbClr val="007A96"/>
    </a:custClr>
    <a:custClr name="ETH 9">
      <a:srgbClr val="956013"/>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ETH Zürich">
      <a:dk1>
        <a:sysClr val="windowText" lastClr="000000"/>
      </a:dk1>
      <a:lt1>
        <a:sysClr val="window" lastClr="FFFFFF"/>
      </a:lt1>
      <a:dk2>
        <a:srgbClr val="000000"/>
      </a:dk2>
      <a:lt2>
        <a:srgbClr val="FFFFFF"/>
      </a:lt2>
      <a:accent1>
        <a:srgbClr val="1269B0"/>
      </a:accent1>
      <a:accent2>
        <a:srgbClr val="91056A"/>
      </a:accent2>
      <a:accent3>
        <a:srgbClr val="007A96"/>
      </a:accent3>
      <a:accent4>
        <a:srgbClr val="485A2C"/>
      </a:accent4>
      <a:accent5>
        <a:srgbClr val="A8322D"/>
      </a:accent5>
      <a:accent6>
        <a:srgbClr val="72791C"/>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C1B9433BA6EFD44588358D008DB0055B" ma:contentTypeVersion="4" ma:contentTypeDescription="Ein neues Dokument erstellen." ma:contentTypeScope="" ma:versionID="b6c86d1d0308c261ef5d0b544376a666">
  <xsd:schema xmlns:xsd="http://www.w3.org/2001/XMLSchema" xmlns:xs="http://www.w3.org/2001/XMLSchema" xmlns:p="http://schemas.microsoft.com/office/2006/metadata/properties" xmlns:ns3="2db9abfe-5ce8-4f76-8b99-8770d1465f3d" targetNamespace="http://schemas.microsoft.com/office/2006/metadata/properties" ma:root="true" ma:fieldsID="e7284149ef9e718b56ca6e0cd1f63c12" ns3:_="">
    <xsd:import namespace="2db9abfe-5ce8-4f76-8b99-8770d1465f3d"/>
    <xsd:element name="properties">
      <xsd:complexType>
        <xsd:sequence>
          <xsd:element name="documentManagement">
            <xsd:complexType>
              <xsd:all>
                <xsd:element ref="ns3:MediaServiceMetadata" minOccurs="0"/>
                <xsd:element ref="ns3:MediaServiceFastMetadata" minOccurs="0"/>
                <xsd:element ref="ns3:_activity"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db9abfe-5ce8-4f76-8b99-8770d1465f3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2db9abfe-5ce8-4f76-8b99-8770d1465f3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13611CA-D5B2-45A5-B000-D8A8501C055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db9abfe-5ce8-4f76-8b99-8770d1465f3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16D2D6E-4203-493F-B6F0-ED8150D57BC1}">
  <ds:schemaRefs>
    <ds:schemaRef ds:uri="http://purl.org/dc/terms/"/>
    <ds:schemaRef ds:uri="2db9abfe-5ce8-4f76-8b99-8770d1465f3d"/>
    <ds:schemaRef ds:uri="http://schemas.microsoft.com/office/2006/metadata/properties"/>
    <ds:schemaRef ds:uri="http://purl.org/dc/dcmitype/"/>
    <ds:schemaRef ds:uri="http://schemas.microsoft.com/office/infopath/2007/PartnerControls"/>
    <ds:schemaRef ds:uri="http://schemas.microsoft.com/office/2006/documentManagement/types"/>
    <ds:schemaRef ds:uri="http://purl.org/dc/elements/1.1/"/>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D81D17D-0E3C-4D9D-BA0B-FA67AB4BA96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ETH PPT Persönlich EN</Template>
  <TotalTime>60684</TotalTime>
  <Words>1815</Words>
  <Application>Microsoft Office PowerPoint</Application>
  <PresentationFormat>Widescreen</PresentationFormat>
  <Paragraphs>155</Paragraphs>
  <Slides>17</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Corbel</vt:lpstr>
      <vt:lpstr>Symbol</vt:lpstr>
      <vt:lpstr>Wingdings</vt:lpstr>
      <vt:lpstr>ETH Zürich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ETH Zuerich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Experiments and the research process</dc:title>
  <dc:creator>Franke  Henrik</dc:creator>
  <cp:lastModifiedBy>JAYASURYA R</cp:lastModifiedBy>
  <cp:revision>5317</cp:revision>
  <dcterms:created xsi:type="dcterms:W3CDTF">2021-02-09T08:01:58Z</dcterms:created>
  <dcterms:modified xsi:type="dcterms:W3CDTF">2026-02-19T08:53:25Z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0x010100C1B9433BA6EFD44588358D008DB0055B</vt:lpwstr>
  </property>
</Properties>
</file>